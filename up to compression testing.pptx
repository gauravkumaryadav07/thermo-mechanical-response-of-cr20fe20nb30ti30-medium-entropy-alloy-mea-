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332" r:id="rId3"/>
    <p:sldId id="334" r:id="rId4"/>
    <p:sldId id="335" r:id="rId5"/>
    <p:sldId id="316" r:id="rId6"/>
    <p:sldId id="317" r:id="rId7"/>
    <p:sldId id="263" r:id="rId8"/>
    <p:sldId id="257" r:id="rId9"/>
    <p:sldId id="259" r:id="rId10"/>
    <p:sldId id="326" r:id="rId11"/>
    <p:sldId id="311" r:id="rId12"/>
    <p:sldId id="310" r:id="rId13"/>
    <p:sldId id="286" r:id="rId14"/>
    <p:sldId id="287" r:id="rId15"/>
    <p:sldId id="279" r:id="rId16"/>
    <p:sldId id="280" r:id="rId17"/>
    <p:sldId id="281" r:id="rId18"/>
    <p:sldId id="282" r:id="rId19"/>
    <p:sldId id="278" r:id="rId20"/>
    <p:sldId id="285" r:id="rId21"/>
    <p:sldId id="283" r:id="rId22"/>
    <p:sldId id="284" r:id="rId23"/>
    <p:sldId id="291" r:id="rId24"/>
    <p:sldId id="288" r:id="rId25"/>
    <p:sldId id="328" r:id="rId26"/>
    <p:sldId id="329" r:id="rId27"/>
    <p:sldId id="289" r:id="rId28"/>
    <p:sldId id="330" r:id="rId29"/>
    <p:sldId id="290" r:id="rId30"/>
    <p:sldId id="33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DF0ED-288F-1741-6F78-901EBDC551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B52ABE-4504-648C-1039-99EF85F79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112FB0-CDDE-19AD-E21F-26C6E252C241}"/>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5" name="Footer Placeholder 4">
            <a:extLst>
              <a:ext uri="{FF2B5EF4-FFF2-40B4-BE49-F238E27FC236}">
                <a16:creationId xmlns:a16="http://schemas.microsoft.com/office/drawing/2014/main" id="{304DC9B8-1611-D5C2-9D1D-74412BF30A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4E90D3-6277-DACB-7938-017982F06F52}"/>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4064960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81065-654C-584A-3FEC-BBAB3F2413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B64631-0D99-78D3-8D09-742544BDF7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29793D-84FB-DDC7-3494-1DD772DD0BF6}"/>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5" name="Footer Placeholder 4">
            <a:extLst>
              <a:ext uri="{FF2B5EF4-FFF2-40B4-BE49-F238E27FC236}">
                <a16:creationId xmlns:a16="http://schemas.microsoft.com/office/drawing/2014/main" id="{C23A614B-316D-0DF3-DE38-0BD6C51FCD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78E176-54B6-F4A9-7019-D4C440CD183A}"/>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2603665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74980-7EB6-28FC-4FF7-974705A78C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AAAA974-4106-10DD-5E1E-3D553C8DC3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D2E0FD-EDEA-619A-FEC8-D6F6673C4B2A}"/>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5" name="Footer Placeholder 4">
            <a:extLst>
              <a:ext uri="{FF2B5EF4-FFF2-40B4-BE49-F238E27FC236}">
                <a16:creationId xmlns:a16="http://schemas.microsoft.com/office/drawing/2014/main" id="{52648464-2E49-FA4A-BC04-B7078AFFEF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300476-EB51-2D5D-A9A8-E4D073FE1776}"/>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1389048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9372C-1B71-B390-42F1-50BA14B8C3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75A4FE-5C53-7D1D-98FE-D99ED66872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279AAC-38F0-E762-1241-129DF1E559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67530F-1159-B774-EE7F-8CFB2F09EDCA}"/>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6" name="Footer Placeholder 5">
            <a:extLst>
              <a:ext uri="{FF2B5EF4-FFF2-40B4-BE49-F238E27FC236}">
                <a16:creationId xmlns:a16="http://schemas.microsoft.com/office/drawing/2014/main" id="{5732BD41-415F-2110-8703-074E2259BB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4564DF-9ED6-1C84-DBBC-B8BDA4032185}"/>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55569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5303D-0D73-8298-F537-FEE2493D60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A20DD7-F3CA-EF04-CCEB-B19B248EF5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DDFEBC-9E6A-1D5C-FD53-64071898E4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6F15DEC-7D96-554F-97E9-BF8EDA8947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5FD553-C1A7-F600-D153-64CC16B43F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D80D23F-F5EE-8AFF-42D0-18D45CC3A47A}"/>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8" name="Footer Placeholder 7">
            <a:extLst>
              <a:ext uri="{FF2B5EF4-FFF2-40B4-BE49-F238E27FC236}">
                <a16:creationId xmlns:a16="http://schemas.microsoft.com/office/drawing/2014/main" id="{E72825B8-99B6-A8B1-7B10-892EF576B0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87F5B6-F300-B19F-620E-14758F99BC48}"/>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3243605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3BB5-6CB2-0F8C-F39F-E87F4E4D5E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99B79F-C14A-3DC4-C3D9-ED361CB41ED4}"/>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4" name="Footer Placeholder 3">
            <a:extLst>
              <a:ext uri="{FF2B5EF4-FFF2-40B4-BE49-F238E27FC236}">
                <a16:creationId xmlns:a16="http://schemas.microsoft.com/office/drawing/2014/main" id="{A9C3A3F9-422A-7035-2499-8F5C74FF0D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025B04C-05A2-99E8-C168-E3305F1C8A28}"/>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375370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B68BB5-897B-CB48-FCF7-11A96E8C5709}"/>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3" name="Footer Placeholder 2">
            <a:extLst>
              <a:ext uri="{FF2B5EF4-FFF2-40B4-BE49-F238E27FC236}">
                <a16:creationId xmlns:a16="http://schemas.microsoft.com/office/drawing/2014/main" id="{AA5EEFE9-0BFF-0B6E-0E08-2A41F90CDD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AB40CC-3D0A-DE08-5768-A30A34853600}"/>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416804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A29C2-E9B5-5A21-1858-6FDBA3FE6E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CDDF0A-AD3D-7B87-DD80-4C0C3F6B81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9ADF80-BEC5-A033-91E5-8A861C4387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24F41C-2FEE-E5CD-8507-01B333C6AE2E}"/>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6" name="Footer Placeholder 5">
            <a:extLst>
              <a:ext uri="{FF2B5EF4-FFF2-40B4-BE49-F238E27FC236}">
                <a16:creationId xmlns:a16="http://schemas.microsoft.com/office/drawing/2014/main" id="{1B02F5D8-A8D2-C49F-F42D-51D2AE7B44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4CA579-61D3-313E-303E-7C7B98E96E95}"/>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1258309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2120-BA49-D0D5-FA62-950075BDE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0602C18-EC76-6313-A12F-426356C7573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A5D361-E8EF-1A52-3140-B82F0B455D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D23455-1383-66EA-1C3C-C72B99972CC5}"/>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6" name="Footer Placeholder 5">
            <a:extLst>
              <a:ext uri="{FF2B5EF4-FFF2-40B4-BE49-F238E27FC236}">
                <a16:creationId xmlns:a16="http://schemas.microsoft.com/office/drawing/2014/main" id="{72A9ED38-187D-0DD1-1E83-36E1B6C01C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9704F6-69BD-6FE4-B5A7-2D1F1CC0697E}"/>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452115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BEC8A-1506-B4CD-6036-76620B94D5C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31486B-4DF1-AC42-8201-7C18D68521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EEDEB5-C18C-5308-EF28-26EAA9CA0ADA}"/>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5" name="Footer Placeholder 4">
            <a:extLst>
              <a:ext uri="{FF2B5EF4-FFF2-40B4-BE49-F238E27FC236}">
                <a16:creationId xmlns:a16="http://schemas.microsoft.com/office/drawing/2014/main" id="{41A085D7-8DC0-6909-638C-212CE05164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B94A0-1473-799C-069C-199B1575FEF2}"/>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691643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DC9285-8694-464C-9F27-AF4873FCE3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AE803BF-5462-89B1-4647-35CB7B3F21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8062CA-EA43-C480-FC2D-8E5E03715266}"/>
              </a:ext>
            </a:extLst>
          </p:cNvPr>
          <p:cNvSpPr>
            <a:spLocks noGrp="1"/>
          </p:cNvSpPr>
          <p:nvPr>
            <p:ph type="dt" sz="half" idx="10"/>
          </p:nvPr>
        </p:nvSpPr>
        <p:spPr/>
        <p:txBody>
          <a:bodyPr/>
          <a:lstStyle/>
          <a:p>
            <a:fld id="{64EB8B51-D3EA-4627-897F-0BF60D1D4DCD}" type="datetimeFigureOut">
              <a:rPr lang="en-IN" smtClean="0"/>
              <a:t>09-10-2026</a:t>
            </a:fld>
            <a:endParaRPr lang="en-IN"/>
          </a:p>
        </p:txBody>
      </p:sp>
      <p:sp>
        <p:nvSpPr>
          <p:cNvPr id="5" name="Footer Placeholder 4">
            <a:extLst>
              <a:ext uri="{FF2B5EF4-FFF2-40B4-BE49-F238E27FC236}">
                <a16:creationId xmlns:a16="http://schemas.microsoft.com/office/drawing/2014/main" id="{0FD5EC9E-9213-B329-3183-9F67FD774E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32A4E1-149D-4F3F-9C64-FF1AE0154750}"/>
              </a:ext>
            </a:extLst>
          </p:cNvPr>
          <p:cNvSpPr>
            <a:spLocks noGrp="1"/>
          </p:cNvSpPr>
          <p:nvPr>
            <p:ph type="sldNum" sz="quarter" idx="12"/>
          </p:nvPr>
        </p:nvSpPr>
        <p:spPr/>
        <p:txBody>
          <a:bodyPr/>
          <a:lstStyle/>
          <a:p>
            <a:fld id="{E74F3DCB-5DD9-4D54-AAC6-F2CFF219A893}" type="slidenum">
              <a:rPr lang="en-IN" smtClean="0"/>
              <a:t>‹#›</a:t>
            </a:fld>
            <a:endParaRPr lang="en-IN"/>
          </a:p>
        </p:txBody>
      </p:sp>
    </p:spTree>
    <p:extLst>
      <p:ext uri="{BB962C8B-B14F-4D97-AF65-F5344CB8AC3E}">
        <p14:creationId xmlns:p14="http://schemas.microsoft.com/office/powerpoint/2010/main" val="2230069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41100C-A995-69D6-1BEF-5BC7D9D91E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1CEC94-60DD-91A5-1A12-1F22C3E917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15C987-43FA-FB74-CE00-B68635F869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EB8B51-D3EA-4627-897F-0BF60D1D4DCD}" type="datetimeFigureOut">
              <a:rPr lang="en-IN" smtClean="0"/>
              <a:t>09-10-2026</a:t>
            </a:fld>
            <a:endParaRPr lang="en-IN"/>
          </a:p>
        </p:txBody>
      </p:sp>
      <p:sp>
        <p:nvSpPr>
          <p:cNvPr id="5" name="Footer Placeholder 4">
            <a:extLst>
              <a:ext uri="{FF2B5EF4-FFF2-40B4-BE49-F238E27FC236}">
                <a16:creationId xmlns:a16="http://schemas.microsoft.com/office/drawing/2014/main" id="{46A13EF1-795B-5E86-71C4-FEC3862D2D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FA9A5A3-E3E9-7307-0A5F-1B0E0428E5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4F3DCB-5DD9-4D54-AAC6-F2CFF219A893}" type="slidenum">
              <a:rPr lang="en-IN" smtClean="0"/>
              <a:t>‹#›</a:t>
            </a:fld>
            <a:endParaRPr lang="en-IN"/>
          </a:p>
        </p:txBody>
      </p:sp>
    </p:spTree>
    <p:extLst>
      <p:ext uri="{BB962C8B-B14F-4D97-AF65-F5344CB8AC3E}">
        <p14:creationId xmlns:p14="http://schemas.microsoft.com/office/powerpoint/2010/main" val="510295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C227A-2B81-0CCD-3130-1868B294A267}"/>
              </a:ext>
            </a:extLst>
          </p:cNvPr>
          <p:cNvSpPr>
            <a:spLocks noGrp="1"/>
          </p:cNvSpPr>
          <p:nvPr>
            <p:ph type="ctrTitle"/>
          </p:nvPr>
        </p:nvSpPr>
        <p:spPr>
          <a:xfrm>
            <a:off x="1524000" y="120770"/>
            <a:ext cx="9144000" cy="1188857"/>
          </a:xfrm>
        </p:spPr>
        <p:txBody>
          <a:bodyPr>
            <a:normAutofit fontScale="90000"/>
          </a:bodyPr>
          <a:lstStyle/>
          <a:p>
            <a:r>
              <a:rPr lang="en-IN" sz="3600" dirty="0">
                <a:latin typeface="Times New Roman" panose="02020603050405020304" pitchFamily="18" charset="0"/>
                <a:cs typeface="Times New Roman" panose="02020603050405020304" pitchFamily="18" charset="0"/>
              </a:rPr>
              <a:t>Thermo-Mechanical Response of </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Cr</a:t>
            </a:r>
            <a:r>
              <a:rPr lang="en-IN" sz="3600" baseline="-25000" dirty="0">
                <a:latin typeface="Times New Roman" panose="02020603050405020304" pitchFamily="18" charset="0"/>
                <a:cs typeface="Times New Roman" panose="02020603050405020304" pitchFamily="18" charset="0"/>
              </a:rPr>
              <a:t>20</a:t>
            </a:r>
            <a:r>
              <a:rPr lang="en-IN" sz="3600" dirty="0">
                <a:latin typeface="Times New Roman" panose="02020603050405020304" pitchFamily="18" charset="0"/>
                <a:cs typeface="Times New Roman" panose="02020603050405020304" pitchFamily="18" charset="0"/>
              </a:rPr>
              <a:t>Fe</a:t>
            </a:r>
            <a:r>
              <a:rPr lang="en-IN" sz="3600" baseline="-25000" dirty="0">
                <a:latin typeface="Times New Roman" panose="02020603050405020304" pitchFamily="18" charset="0"/>
                <a:cs typeface="Times New Roman" panose="02020603050405020304" pitchFamily="18" charset="0"/>
              </a:rPr>
              <a:t>20</a:t>
            </a:r>
            <a:r>
              <a:rPr lang="en-IN" sz="3600" dirty="0">
                <a:latin typeface="Times New Roman" panose="02020603050405020304" pitchFamily="18" charset="0"/>
                <a:cs typeface="Times New Roman" panose="02020603050405020304" pitchFamily="18" charset="0"/>
              </a:rPr>
              <a:t>Nb</a:t>
            </a:r>
            <a:r>
              <a:rPr lang="en-IN" sz="3600" baseline="-25000" dirty="0">
                <a:latin typeface="Times New Roman" panose="02020603050405020304" pitchFamily="18" charset="0"/>
                <a:cs typeface="Times New Roman" panose="02020603050405020304" pitchFamily="18" charset="0"/>
              </a:rPr>
              <a:t>30</a:t>
            </a:r>
            <a:r>
              <a:rPr lang="en-IN" sz="3600" dirty="0">
                <a:latin typeface="Times New Roman" panose="02020603050405020304" pitchFamily="18" charset="0"/>
                <a:cs typeface="Times New Roman" panose="02020603050405020304" pitchFamily="18" charset="0"/>
              </a:rPr>
              <a:t>Ti</a:t>
            </a:r>
            <a:r>
              <a:rPr lang="en-IN" sz="3600" baseline="-25000" dirty="0">
                <a:latin typeface="Times New Roman" panose="02020603050405020304" pitchFamily="18" charset="0"/>
                <a:cs typeface="Times New Roman" panose="02020603050405020304" pitchFamily="18" charset="0"/>
              </a:rPr>
              <a:t>30</a:t>
            </a:r>
            <a:r>
              <a:rPr lang="en-IN" sz="3600" dirty="0">
                <a:latin typeface="Times New Roman" panose="02020603050405020304" pitchFamily="18" charset="0"/>
                <a:cs typeface="Times New Roman" panose="02020603050405020304" pitchFamily="18" charset="0"/>
              </a:rPr>
              <a:t>  Medium Entropy Alloy (MEA)</a:t>
            </a:r>
          </a:p>
        </p:txBody>
      </p:sp>
      <p:sp>
        <p:nvSpPr>
          <p:cNvPr id="3" name="Subtitle 2">
            <a:extLst>
              <a:ext uri="{FF2B5EF4-FFF2-40B4-BE49-F238E27FC236}">
                <a16:creationId xmlns:a16="http://schemas.microsoft.com/office/drawing/2014/main" id="{7F6E43BB-D437-84DB-C06A-BB6925D41D6E}"/>
              </a:ext>
            </a:extLst>
          </p:cNvPr>
          <p:cNvSpPr>
            <a:spLocks noGrp="1"/>
          </p:cNvSpPr>
          <p:nvPr>
            <p:ph type="subTitle" idx="1"/>
          </p:nvPr>
        </p:nvSpPr>
        <p:spPr>
          <a:xfrm>
            <a:off x="414068" y="1771292"/>
            <a:ext cx="11162581" cy="4692768"/>
          </a:xfrm>
        </p:spPr>
        <p:txBody>
          <a:bodyPr/>
          <a:lstStyle/>
          <a:p>
            <a:endParaRPr lang="en-IN" dirty="0"/>
          </a:p>
        </p:txBody>
      </p:sp>
      <p:pic>
        <p:nvPicPr>
          <p:cNvPr id="4" name="Content Placeholder 4">
            <a:extLst>
              <a:ext uri="{FF2B5EF4-FFF2-40B4-BE49-F238E27FC236}">
                <a16:creationId xmlns:a16="http://schemas.microsoft.com/office/drawing/2014/main" id="{7D72BCCA-5795-EFE5-64EF-17F685516E6B}"/>
              </a:ext>
            </a:extLst>
          </p:cNvPr>
          <p:cNvPicPr>
            <a:picLocks noGrp="1" noChangeAspect="1"/>
          </p:cNvPicPr>
          <p:nvPr>
            <p:ph idx="1"/>
          </p:nvPr>
        </p:nvPicPr>
        <p:blipFill>
          <a:blip r:embed="rId2"/>
          <a:stretch>
            <a:fillRect/>
          </a:stretch>
        </p:blipFill>
        <p:spPr>
          <a:xfrm>
            <a:off x="4063019" y="1771292"/>
            <a:ext cx="3505226" cy="3024933"/>
          </a:xfrm>
          <a:prstGeom prst="rect">
            <a:avLst/>
          </a:prstGeom>
        </p:spPr>
      </p:pic>
      <p:sp>
        <p:nvSpPr>
          <p:cNvPr id="5" name="TextBox 4">
            <a:extLst>
              <a:ext uri="{FF2B5EF4-FFF2-40B4-BE49-F238E27FC236}">
                <a16:creationId xmlns:a16="http://schemas.microsoft.com/office/drawing/2014/main" id="{9A0FC0C2-A52B-2B74-BB83-02A9C4DB60F9}"/>
              </a:ext>
            </a:extLst>
          </p:cNvPr>
          <p:cNvSpPr txBox="1"/>
          <p:nvPr/>
        </p:nvSpPr>
        <p:spPr>
          <a:xfrm flipH="1">
            <a:off x="707365" y="4744528"/>
            <a:ext cx="3916392" cy="120032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Name- Gaurav Kumar Yadav</a:t>
            </a:r>
          </a:p>
          <a:p>
            <a:r>
              <a:rPr lang="en-IN" dirty="0">
                <a:latin typeface="Times New Roman" panose="02020603050405020304" pitchFamily="18" charset="0"/>
                <a:cs typeface="Times New Roman" panose="02020603050405020304" pitchFamily="18" charset="0"/>
              </a:rPr>
              <a:t>Entry no- 2025MMM1001</a:t>
            </a:r>
          </a:p>
          <a:p>
            <a:r>
              <a:rPr lang="en-IN" dirty="0">
                <a:latin typeface="Times New Roman" panose="02020603050405020304" pitchFamily="18" charset="0"/>
                <a:cs typeface="Times New Roman" panose="02020603050405020304" pitchFamily="18" charset="0"/>
              </a:rPr>
              <a:t>M.TECH. in Metallurgical and materials engineering (2025-2027)</a:t>
            </a:r>
          </a:p>
        </p:txBody>
      </p:sp>
      <p:sp>
        <p:nvSpPr>
          <p:cNvPr id="6" name="TextBox 5">
            <a:extLst>
              <a:ext uri="{FF2B5EF4-FFF2-40B4-BE49-F238E27FC236}">
                <a16:creationId xmlns:a16="http://schemas.microsoft.com/office/drawing/2014/main" id="{660E88E4-8CCD-CAC8-1C65-7F523EEA606D}"/>
              </a:ext>
            </a:extLst>
          </p:cNvPr>
          <p:cNvSpPr txBox="1"/>
          <p:nvPr/>
        </p:nvSpPr>
        <p:spPr>
          <a:xfrm>
            <a:off x="7021902" y="4744528"/>
            <a:ext cx="3554083"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Supervisor : Dr. Nitish </a:t>
            </a:r>
            <a:r>
              <a:rPr lang="en-IN" dirty="0" err="1">
                <a:latin typeface="Times New Roman" panose="02020603050405020304" pitchFamily="18" charset="0"/>
                <a:cs typeface="Times New Roman" panose="02020603050405020304" pitchFamily="18" charset="0"/>
              </a:rPr>
              <a:t>Bibhanshu</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Co-supervisor : Dr. Suman Mishra</a:t>
            </a:r>
          </a:p>
        </p:txBody>
      </p:sp>
    </p:spTree>
    <p:extLst>
      <p:ext uri="{BB962C8B-B14F-4D97-AF65-F5344CB8AC3E}">
        <p14:creationId xmlns:p14="http://schemas.microsoft.com/office/powerpoint/2010/main" val="4182940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CFDFF-3255-B173-6956-5C5335783FF8}"/>
              </a:ext>
            </a:extLst>
          </p:cNvPr>
          <p:cNvSpPr>
            <a:spLocks noGrp="1"/>
          </p:cNvSpPr>
          <p:nvPr>
            <p:ph type="title"/>
          </p:nvPr>
        </p:nvSpPr>
        <p:spPr>
          <a:xfrm>
            <a:off x="838200" y="109268"/>
            <a:ext cx="10515600" cy="626854"/>
          </a:xfrm>
        </p:spPr>
        <p:txBody>
          <a:bodyPr>
            <a:normAutofit/>
          </a:bodyPr>
          <a:lstStyle/>
          <a:p>
            <a:r>
              <a:rPr lang="en-IN" sz="28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0E409E47-12FB-3AE6-F4FC-863B82FB7C90}"/>
              </a:ext>
            </a:extLst>
          </p:cNvPr>
          <p:cNvSpPr>
            <a:spLocks noGrp="1"/>
          </p:cNvSpPr>
          <p:nvPr>
            <p:ph idx="1"/>
          </p:nvPr>
        </p:nvSpPr>
        <p:spPr>
          <a:xfrm>
            <a:off x="838200" y="862642"/>
            <a:ext cx="10515600" cy="5785449"/>
          </a:xfrm>
        </p:spPr>
        <p:txBody>
          <a:bodyPr>
            <a:normAutofit lnSpcReduction="10000"/>
          </a:bodyPr>
          <a:lstStyle/>
          <a:p>
            <a:pPr algn="just">
              <a:lnSpc>
                <a:spcPct val="120000"/>
              </a:lnSpc>
            </a:pPr>
            <a:r>
              <a:rPr lang="en-IN" sz="2200" dirty="0">
                <a:latin typeface="Times New Roman" panose="02020603050405020304" pitchFamily="18" charset="0"/>
                <a:cs typeface="Times New Roman" panose="02020603050405020304" pitchFamily="18" charset="0"/>
              </a:rPr>
              <a:t>High-Entropy Alloys (HEAs) are a class of advanced metallic materials containing multiple principal elements, offering unique combinations of mechanical and functional properties.</a:t>
            </a:r>
          </a:p>
          <a:p>
            <a:pPr algn="just">
              <a:lnSpc>
                <a:spcPct val="120000"/>
              </a:lnSpc>
            </a:pPr>
            <a:r>
              <a:rPr lang="en-IN" sz="2200" dirty="0">
                <a:latin typeface="Times New Roman" panose="02020603050405020304" pitchFamily="18" charset="0"/>
                <a:cs typeface="Times New Roman" panose="02020603050405020304" pitchFamily="18" charset="0"/>
              </a:rPr>
              <a:t>The Cr–Fe–Nb–Ti alloy system is of significant interest due to the strong influence of its constituent elements on phase stability, microstructure, strength, and deformation behaviour.</a:t>
            </a:r>
          </a:p>
          <a:p>
            <a:pPr algn="just">
              <a:lnSpc>
                <a:spcPct val="120000"/>
              </a:lnSpc>
            </a:pPr>
            <a:r>
              <a:rPr lang="en-IN" sz="2200" dirty="0">
                <a:latin typeface="Times New Roman" panose="02020603050405020304" pitchFamily="18" charset="0"/>
                <a:cs typeface="Times New Roman" panose="02020603050405020304" pitchFamily="18" charset="0"/>
              </a:rPr>
              <a:t>In the present study Cr₂₀Fe₂₀Nb₃₀Ti₃₀ alloy is investigated to understand the relationship between its composition, phase constitution, microstructure and mechanical properties.</a:t>
            </a:r>
          </a:p>
          <a:p>
            <a:pPr algn="just"/>
            <a:r>
              <a:rPr lang="en-IN" sz="2200" dirty="0">
                <a:latin typeface="Times New Roman" panose="02020603050405020304" pitchFamily="18" charset="0"/>
                <a:cs typeface="Times New Roman" panose="02020603050405020304" pitchFamily="18" charset="0"/>
              </a:rPr>
              <a:t>The composition selection is based on the role of each element. Titanium and Niobium are major constituent because Ti has lowest density (4.51g/cm</a:t>
            </a:r>
            <a:r>
              <a:rPr lang="en-IN" sz="2200" baseline="30000" dirty="0">
                <a:latin typeface="Times New Roman" panose="02020603050405020304" pitchFamily="18" charset="0"/>
                <a:cs typeface="Times New Roman" panose="02020603050405020304" pitchFamily="18" charset="0"/>
              </a:rPr>
              <a:t>3</a:t>
            </a:r>
            <a:r>
              <a:rPr lang="en-IN" sz="2200" dirty="0">
                <a:latin typeface="Times New Roman" panose="02020603050405020304" pitchFamily="18" charset="0"/>
                <a:cs typeface="Times New Roman" panose="02020603050405020304" pitchFamily="18" charset="0"/>
              </a:rPr>
              <a:t>), high strength, and good high temperature capability while Nb has a high melting point (1670 °C) thus is useful to high temperature strength and thermal stability. Cr and Fe are minor constituent because Cr is mainly added for oxidation and corrosion resistance while Fe is relatively economical transition element and contributes to solid-solution strengthening and structural stability.</a:t>
            </a:r>
          </a:p>
          <a:p>
            <a:pPr marL="0" indent="0">
              <a:lnSpc>
                <a:spcPct val="120000"/>
              </a:lnSpc>
              <a:buNone/>
            </a:pPr>
            <a:endParaRPr lang="en-IN"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168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A262-1609-62AF-3725-159A91EDD4E5}"/>
              </a:ext>
            </a:extLst>
          </p:cNvPr>
          <p:cNvSpPr>
            <a:spLocks noGrp="1"/>
          </p:cNvSpPr>
          <p:nvPr>
            <p:ph idx="1"/>
          </p:nvPr>
        </p:nvSpPr>
        <p:spPr>
          <a:xfrm>
            <a:off x="838200" y="891396"/>
            <a:ext cx="10515600" cy="5285567"/>
          </a:xfrm>
        </p:spPr>
        <p:txBody>
          <a:bodyPr>
            <a:normAutofit/>
          </a:bodyPr>
          <a:lstStyle/>
          <a:p>
            <a:pPr algn="just">
              <a:lnSpc>
                <a:spcPct val="120000"/>
              </a:lnSpc>
            </a:pPr>
            <a:r>
              <a:rPr lang="en-IN" sz="2000" dirty="0">
                <a:latin typeface="Times New Roman" panose="02020603050405020304" pitchFamily="18" charset="0"/>
                <a:cs typeface="Times New Roman" panose="02020603050405020304" pitchFamily="18" charset="0"/>
              </a:rPr>
              <a:t>Cr₂₀Fe₂₀Nb₃₀Ti₃₀ High Entropy Alloys (HEAs), prepared by arc melting under a high-purity argon gas atmosphere.</a:t>
            </a:r>
          </a:p>
          <a:p>
            <a:pPr algn="just">
              <a:lnSpc>
                <a:spcPct val="120000"/>
              </a:lnSpc>
            </a:pPr>
            <a:r>
              <a:rPr lang="en-IN" sz="2000" dirty="0">
                <a:latin typeface="Times New Roman" panose="02020603050405020304" pitchFamily="18" charset="0"/>
                <a:cs typeface="Times New Roman" panose="02020603050405020304" pitchFamily="18" charset="0"/>
              </a:rPr>
              <a:t>The alloy is characterized using X-ray Diffraction (XRD), Energy-Dispersive Spectroscopy (EDS) and Electron Backscatter Diffraction (EBSD) to investigate its phases, elemental distribution, grain structure, and crystallographic characteristics.</a:t>
            </a:r>
          </a:p>
          <a:p>
            <a:pPr algn="just">
              <a:lnSpc>
                <a:spcPct val="120000"/>
              </a:lnSpc>
            </a:pPr>
            <a:r>
              <a:rPr lang="en-IN" sz="2000" dirty="0">
                <a:latin typeface="Times New Roman" panose="02020603050405020304" pitchFamily="18" charset="0"/>
                <a:cs typeface="Times New Roman" panose="02020603050405020304" pitchFamily="18" charset="0"/>
              </a:rPr>
              <a:t>Hot Compression testing at different temperatures and different Strain Rates is done to evaluate the alloy's strength and deformation behaviour response.</a:t>
            </a:r>
          </a:p>
          <a:p>
            <a:pPr algn="just">
              <a:lnSpc>
                <a:spcPct val="120000"/>
              </a:lnSpc>
            </a:pPr>
            <a:r>
              <a:rPr lang="en-IN" sz="2000" dirty="0">
                <a:latin typeface="Times New Roman" panose="02020603050405020304" pitchFamily="18" charset="0"/>
                <a:cs typeface="Times New Roman" panose="02020603050405020304" pitchFamily="18" charset="0"/>
              </a:rPr>
              <a:t>The study aims to establish a microstructure–mechanical property relationship and understand the factors governing the deformation behaviour of the Ti₃₀Nb₃₀Fe₂₀Cr₂₀ alloy.</a:t>
            </a:r>
          </a:p>
          <a:p>
            <a:pPr marL="0" indent="0" algn="just">
              <a:lnSpc>
                <a:spcPct val="120000"/>
              </a:lnSpc>
              <a:buNone/>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93889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6F05BB8E-966E-2D72-886D-B5EF0EAADA59}"/>
                  </a:ext>
                </a:extLst>
              </p:cNvPr>
              <p:cNvSpPr>
                <a:spLocks noGrp="1"/>
              </p:cNvSpPr>
              <p:nvPr>
                <p:ph type="subTitle" idx="1"/>
              </p:nvPr>
            </p:nvSpPr>
            <p:spPr>
              <a:xfrm>
                <a:off x="1524000" y="1483743"/>
                <a:ext cx="9144000" cy="4331898"/>
              </a:xfrm>
            </p:spPr>
            <p:txBody>
              <a:bodyPr/>
              <a:lstStyle/>
              <a:p>
                <a:r>
                  <a:rPr lang="en-IN" b="1" i="1" dirty="0">
                    <a:latin typeface="Times New Roman" panose="02020603050405020304" pitchFamily="18" charset="0"/>
                    <a:cs typeface="Times New Roman" panose="02020603050405020304" pitchFamily="18" charset="0"/>
                  </a:rPr>
                  <a:t>Configurational entropy calculation for </a:t>
                </a:r>
                <a:r>
                  <a:rPr lang="en-IN" b="1" dirty="0">
                    <a:latin typeface="Times New Roman" panose="02020603050405020304" pitchFamily="18" charset="0"/>
                    <a:cs typeface="Times New Roman" panose="02020603050405020304" pitchFamily="18" charset="0"/>
                  </a:rPr>
                  <a:t>Cr₂₀Fe₂₀Nb₃₀Ti₃₀ :</a:t>
                </a:r>
                <a:endParaRPr lang="en-IN" b="1" i="1" dirty="0">
                  <a:latin typeface="Times New Roman" panose="02020603050405020304" pitchFamily="18" charset="0"/>
                  <a:cs typeface="Times New Roman" panose="02020603050405020304" pitchFamily="18" charset="0"/>
                </a:endParaRPr>
              </a:p>
              <a:p>
                <a:endParaRPr lang="en-IN" i="1" dirty="0">
                  <a:latin typeface="Cambria Math" panose="02040503050406030204" pitchFamily="18" charset="0"/>
                </a:endParaRPr>
              </a:p>
              <a:p>
                <a:pPr/>
                <a14:m>
                  <m:oMathPara xmlns:m="http://schemas.openxmlformats.org/officeDocument/2006/math">
                    <m:oMath>
                      <m:r>
                        <m:rPr>
                          <m:sty m:val="p"/>
                        </m:rPr>
                        <a:rPr lang="en-IN" i="1" smtClean="0">
                          <a:latin typeface="Cambria Math" panose="02040503050406030204" pitchFamily="18" charset="0"/>
                        </a:rPr>
                        <m:t>Δ</m:t>
                      </m:r>
                      <m:sSub>
                        <m:sSubPr>
                          <m:ctrlPr>
                            <a:rPr lang="en-IN" i="1" smtClean="0">
                              <a:latin typeface="Cambria Math" panose="02040503050406030204" pitchFamily="18" charset="0"/>
                            </a:rPr>
                          </m:ctrlPr>
                        </m:sSubPr>
                        <m:e>
                          <m:r>
                            <a:rPr lang="en-IN" i="1" smtClean="0">
                              <a:latin typeface="Cambria Math" panose="02040503050406030204" pitchFamily="18" charset="0"/>
                            </a:rPr>
                            <m:t>𝑆</m:t>
                          </m:r>
                        </m:e>
                        <m:sub>
                          <m:r>
                            <a:rPr lang="en-IN" b="0" i="1" smtClean="0">
                              <a:latin typeface="Cambria Math" panose="02040503050406030204" pitchFamily="18" charset="0"/>
                            </a:rPr>
                            <m:t>𝑚𝑖𝑥</m:t>
                          </m:r>
                        </m:sub>
                      </m:sSub>
                      <m:r>
                        <a:rPr lang="en-IN" i="1" smtClean="0">
                          <a:latin typeface="Cambria Math" panose="02040503050406030204" pitchFamily="18" charset="0"/>
                        </a:rPr>
                        <m:t>=−</m:t>
                      </m:r>
                      <m:r>
                        <a:rPr lang="en-IN" i="1" smtClean="0">
                          <a:latin typeface="Cambria Math" panose="02040503050406030204" pitchFamily="18" charset="0"/>
                        </a:rPr>
                        <m:t>𝑅</m:t>
                      </m:r>
                      <m:r>
                        <a:rPr lang="en-IN" i="1" smtClean="0">
                          <a:latin typeface="Cambria Math" panose="02040503050406030204" pitchFamily="18" charset="0"/>
                        </a:rPr>
                        <m:t>𝛴</m:t>
                      </m:r>
                      <m:r>
                        <a:rPr lang="en-IN" b="0" i="1" smtClean="0">
                          <a:latin typeface="Cambria Math" panose="02040503050406030204" pitchFamily="18" charset="0"/>
                        </a:rPr>
                        <m:t>𝑥</m:t>
                      </m:r>
                      <m:r>
                        <a:rPr lang="en-IN" b="0" i="1" baseline="-25000" smtClean="0">
                          <a:latin typeface="Cambria Math" panose="02040503050406030204" pitchFamily="18" charset="0"/>
                        </a:rPr>
                        <m:t>𝑖</m:t>
                      </m:r>
                      <m:r>
                        <a:rPr lang="en-IN" b="0" i="1" smtClean="0">
                          <a:latin typeface="Cambria Math" panose="02040503050406030204" pitchFamily="18" charset="0"/>
                        </a:rPr>
                        <m:t> </m:t>
                      </m:r>
                      <m:r>
                        <a:rPr lang="en-IN" b="0" i="1" smtClean="0">
                          <a:latin typeface="Cambria Math" panose="02040503050406030204" pitchFamily="18" charset="0"/>
                        </a:rPr>
                        <m:t>𝑙𝑛𝑥𝑖</m:t>
                      </m:r>
                    </m:oMath>
                  </m:oMathPara>
                </a14:m>
                <a:endParaRPr lang="en-IN" dirty="0"/>
              </a:p>
              <a:p>
                <a:endParaRPr lang="en-IN" dirty="0"/>
              </a:p>
              <a:p>
                <a14:m>
                  <m:oMath xmlns:m="http://schemas.openxmlformats.org/officeDocument/2006/math">
                    <m:r>
                      <m:rPr>
                        <m:sty m:val="p"/>
                      </m:rPr>
                      <a:rPr lang="en-IN" i="1" smtClean="0">
                        <a:latin typeface="Cambria Math" panose="02040503050406030204" pitchFamily="18" charset="0"/>
                      </a:rPr>
                      <m:t>Δ</m:t>
                    </m:r>
                    <m:sSub>
                      <m:sSubPr>
                        <m:ctrlPr>
                          <a:rPr lang="en-IN" i="1" smtClean="0">
                            <a:latin typeface="Cambria Math" panose="02040503050406030204" pitchFamily="18" charset="0"/>
                          </a:rPr>
                        </m:ctrlPr>
                      </m:sSubPr>
                      <m:e>
                        <m:r>
                          <a:rPr lang="en-IN" i="1" smtClean="0">
                            <a:latin typeface="Cambria Math" panose="02040503050406030204" pitchFamily="18" charset="0"/>
                          </a:rPr>
                          <m:t>𝑆</m:t>
                        </m:r>
                      </m:e>
                      <m:sub>
                        <m:r>
                          <a:rPr lang="en-IN" b="0" i="1" smtClean="0">
                            <a:latin typeface="Cambria Math" panose="02040503050406030204" pitchFamily="18" charset="0"/>
                          </a:rPr>
                          <m:t>𝑚𝑖𝑥</m:t>
                        </m:r>
                      </m:sub>
                    </m:sSub>
                    <m:r>
                      <a:rPr lang="en-IN" b="0" i="1" smtClean="0">
                        <a:latin typeface="Cambria Math" panose="02040503050406030204" pitchFamily="18" charset="0"/>
                      </a:rPr>
                      <m:t> </m:t>
                    </m:r>
                  </m:oMath>
                </a14:m>
                <a:r>
                  <a:rPr lang="en-IN" dirty="0"/>
                  <a:t>= -8.314 ( 0.2 ln0.2 + 0.2 ln0.2 + 0.3 ln0.3 + 0.3 ln0.3 )</a:t>
                </a:r>
              </a:p>
              <a:p>
                <a:endParaRPr lang="en-IN" dirty="0"/>
              </a:p>
              <a:p>
                <a14:m>
                  <m:oMath xmlns:m="http://schemas.openxmlformats.org/officeDocument/2006/math">
                    <m:r>
                      <m:rPr>
                        <m:sty m:val="p"/>
                      </m:rPr>
                      <a:rPr lang="en-IN" i="1" smtClean="0">
                        <a:latin typeface="Cambria Math" panose="02040503050406030204" pitchFamily="18" charset="0"/>
                      </a:rPr>
                      <m:t>Δ</m:t>
                    </m:r>
                    <m:sSub>
                      <m:sSubPr>
                        <m:ctrlPr>
                          <a:rPr lang="en-IN" i="1" smtClean="0">
                            <a:latin typeface="Cambria Math" panose="02040503050406030204" pitchFamily="18" charset="0"/>
                          </a:rPr>
                        </m:ctrlPr>
                      </m:sSubPr>
                      <m:e>
                        <m:r>
                          <a:rPr lang="en-IN" i="1" smtClean="0">
                            <a:latin typeface="Cambria Math" panose="02040503050406030204" pitchFamily="18" charset="0"/>
                          </a:rPr>
                          <m:t>𝑆</m:t>
                        </m:r>
                      </m:e>
                      <m:sub>
                        <m:r>
                          <a:rPr lang="en-IN" b="0" i="1" smtClean="0">
                            <a:latin typeface="Cambria Math" panose="02040503050406030204" pitchFamily="18" charset="0"/>
                          </a:rPr>
                          <m:t>𝑚𝑖𝑥</m:t>
                        </m:r>
                      </m:sub>
                    </m:sSub>
                    <m:r>
                      <a:rPr lang="en-IN" b="0" i="1" smtClean="0">
                        <a:latin typeface="Cambria Math" panose="02040503050406030204" pitchFamily="18" charset="0"/>
                      </a:rPr>
                      <m:t> </m:t>
                    </m:r>
                  </m:oMath>
                </a14:m>
                <a:r>
                  <a:rPr lang="en-IN" dirty="0"/>
                  <a:t>= 11.358 J.mol</a:t>
                </a:r>
                <a:r>
                  <a:rPr lang="en-IN" baseline="30000" dirty="0"/>
                  <a:t>-1</a:t>
                </a:r>
                <a:r>
                  <a:rPr lang="en-IN" dirty="0"/>
                  <a:t>.K</a:t>
                </a:r>
                <a:r>
                  <a:rPr lang="en-IN" baseline="30000" dirty="0"/>
                  <a:t>-1</a:t>
                </a:r>
              </a:p>
              <a:p>
                <a:endParaRPr lang="en-IN" dirty="0"/>
              </a:p>
            </p:txBody>
          </p:sp>
        </mc:Choice>
        <mc:Fallback xmlns="">
          <p:sp>
            <p:nvSpPr>
              <p:cNvPr id="3" name="Subtitle 2">
                <a:extLst>
                  <a:ext uri="{FF2B5EF4-FFF2-40B4-BE49-F238E27FC236}">
                    <a16:creationId xmlns:a16="http://schemas.microsoft.com/office/drawing/2014/main" id="{6F05BB8E-966E-2D72-886D-B5EF0EAADA59}"/>
                  </a:ext>
                </a:extLst>
              </p:cNvPr>
              <p:cNvSpPr>
                <a:spLocks noGrp="1" noRot="1" noChangeAspect="1" noMove="1" noResize="1" noEditPoints="1" noAdjustHandles="1" noChangeArrowheads="1" noChangeShapeType="1" noTextEdit="1"/>
              </p:cNvSpPr>
              <p:nvPr>
                <p:ph type="subTitle" idx="1"/>
              </p:nvPr>
            </p:nvSpPr>
            <p:spPr>
              <a:xfrm>
                <a:off x="1524000" y="1483743"/>
                <a:ext cx="9144000" cy="4331898"/>
              </a:xfrm>
              <a:blipFill>
                <a:blip r:embed="rId2"/>
                <a:stretch>
                  <a:fillRect t="-1969"/>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38F84424-580D-B11F-33B1-72F0C3A5211D}"/>
              </a:ext>
            </a:extLst>
          </p:cNvPr>
          <p:cNvSpPr/>
          <p:nvPr/>
        </p:nvSpPr>
        <p:spPr>
          <a:xfrm>
            <a:off x="4025660" y="4048664"/>
            <a:ext cx="4192438" cy="598098"/>
          </a:xfrm>
          <a:prstGeom prst="rect">
            <a:avLst/>
          </a:prstGeom>
          <a:noFill/>
          <a:ln>
            <a:noFill/>
          </a:ln>
        </p:spPr>
        <p:style>
          <a:lnRef idx="0">
            <a:scrgbClr r="0" g="0" b="0"/>
          </a:lnRef>
          <a:fillRef idx="0">
            <a:scrgbClr r="0" g="0" b="0"/>
          </a:fillRef>
          <a:effectRef idx="0">
            <a:scrgbClr r="0" g="0" b="0"/>
          </a:effectRef>
          <a:fontRef idx="minor">
            <a:schemeClr val="accent6"/>
          </a:fontRef>
        </p:style>
        <p:txBody>
          <a:bodyPr rtlCol="0" anchor="ctr"/>
          <a:lstStyle/>
          <a:p>
            <a:pPr algn="ctr"/>
            <a:endParaRPr lang="en-IN"/>
          </a:p>
        </p:txBody>
      </p:sp>
    </p:spTree>
    <p:extLst>
      <p:ext uri="{BB962C8B-B14F-4D97-AF65-F5344CB8AC3E}">
        <p14:creationId xmlns:p14="http://schemas.microsoft.com/office/powerpoint/2010/main" val="3200715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C6864-5CC6-7851-8B94-1680B079F560}"/>
              </a:ext>
            </a:extLst>
          </p:cNvPr>
          <p:cNvSpPr>
            <a:spLocks noGrp="1"/>
          </p:cNvSpPr>
          <p:nvPr>
            <p:ph type="ctrTitle"/>
          </p:nvPr>
        </p:nvSpPr>
        <p:spPr>
          <a:xfrm>
            <a:off x="1524000" y="661359"/>
            <a:ext cx="9144000" cy="592347"/>
          </a:xfrm>
        </p:spPr>
        <p:txBody>
          <a:bodyPr>
            <a:normAutofit/>
          </a:bodyPr>
          <a:lstStyle/>
          <a:p>
            <a:pPr algn="l"/>
            <a:r>
              <a:rPr lang="en-IN" sz="2800"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Research Objective:</a:t>
            </a:r>
          </a:p>
        </p:txBody>
      </p:sp>
      <p:sp>
        <p:nvSpPr>
          <p:cNvPr id="3" name="Subtitle 2">
            <a:extLst>
              <a:ext uri="{FF2B5EF4-FFF2-40B4-BE49-F238E27FC236}">
                <a16:creationId xmlns:a16="http://schemas.microsoft.com/office/drawing/2014/main" id="{1CCC3A52-C10B-CAB9-8591-248911F7113B}"/>
              </a:ext>
            </a:extLst>
          </p:cNvPr>
          <p:cNvSpPr>
            <a:spLocks noGrp="1"/>
          </p:cNvSpPr>
          <p:nvPr>
            <p:ph type="subTitle" idx="1"/>
          </p:nvPr>
        </p:nvSpPr>
        <p:spPr>
          <a:xfrm>
            <a:off x="1524000" y="1098430"/>
            <a:ext cx="9144000" cy="4159370"/>
          </a:xfrm>
        </p:spPr>
        <p:txBody>
          <a:bodyPr>
            <a:normAutofit/>
          </a:bodyPr>
          <a:lstStyle/>
          <a:p>
            <a:pPr algn="l"/>
            <a:endParaRPr lang="en-IN" dirty="0"/>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investigate the thermo-mechanical response of Cr₂₀Fe₂₀Nb₃₀Ti₃₀ under high-temperature deformation conditions.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study the effect of temperature on the compressive deformation behaviour of the alloy.</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evaluate the effect of strain rate on flow stress, strength and deformation behaviour at elevated temperatures.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establish the relationship between microstructure and mechanical properties using XRD, EBSD, EDS and optical microscopy also corelate with Hardness.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identify suitable temperature and strain-rate conditions for achieving desirable mechanical performance and deformation behaviour.</a:t>
            </a:r>
          </a:p>
          <a:p>
            <a:pPr algn="l"/>
            <a:endParaRPr lang="en-IN" dirty="0"/>
          </a:p>
        </p:txBody>
      </p:sp>
    </p:spTree>
    <p:extLst>
      <p:ext uri="{BB962C8B-B14F-4D97-AF65-F5344CB8AC3E}">
        <p14:creationId xmlns:p14="http://schemas.microsoft.com/office/powerpoint/2010/main" val="1885711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DE964-5E5E-97B7-2A12-71B61F78B3DC}"/>
              </a:ext>
            </a:extLst>
          </p:cNvPr>
          <p:cNvSpPr>
            <a:spLocks noGrp="1"/>
          </p:cNvSpPr>
          <p:nvPr>
            <p:ph type="ctrTitle"/>
          </p:nvPr>
        </p:nvSpPr>
        <p:spPr>
          <a:xfrm>
            <a:off x="1408981" y="322053"/>
            <a:ext cx="9097992" cy="1702279"/>
          </a:xfrm>
        </p:spPr>
        <p:txBody>
          <a:bodyPr>
            <a:normAutofit/>
          </a:bodyPr>
          <a:lstStyle/>
          <a:p>
            <a:pPr algn="l"/>
            <a:r>
              <a:rPr lang="en-IN" sz="2400" b="1" dirty="0">
                <a:latin typeface="Times New Roman" panose="02020603050405020304" pitchFamily="18" charset="0"/>
                <a:cs typeface="Times New Roman" panose="02020603050405020304" pitchFamily="18" charset="0"/>
              </a:rPr>
              <a:t>Applications:</a:t>
            </a:r>
            <a:r>
              <a:rPr lang="en-IN" sz="36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 Cr₂₀Fe₂₀Nb₃₀Ti₃₀ alloy can be investigated for potential applications where high-temperature mechanical stability and resistance to deformation are important such as: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8208442-E143-02D5-6480-69EB2D88D925}"/>
              </a:ext>
            </a:extLst>
          </p:cNvPr>
          <p:cNvSpPr>
            <a:spLocks noGrp="1"/>
          </p:cNvSpPr>
          <p:nvPr>
            <p:ph type="subTitle" idx="1"/>
          </p:nvPr>
        </p:nvSpPr>
        <p:spPr>
          <a:xfrm>
            <a:off x="1408981" y="1823048"/>
            <a:ext cx="9144000" cy="4643887"/>
          </a:xfrm>
        </p:spPr>
        <p:txBody>
          <a:bodyPr>
            <a:norm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Aerospace and propulsion components exposed to elevated temperatures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High-temperature structural components in energy and power-generation systems.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Automotive and engine components requiring elevated temperature strength.</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High-temperature Punch and dies subjected to mechanical and thermal loading.</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Gas turbine components and power generation systems.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Wear and corrosion resistant components.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Advanced manufacturing and thermo-mechanical processing  where deformation at different temperatures and strain rates is essential</a:t>
            </a:r>
          </a:p>
          <a:p>
            <a:endParaRPr lang="en-IN" dirty="0"/>
          </a:p>
        </p:txBody>
      </p:sp>
    </p:spTree>
    <p:extLst>
      <p:ext uri="{BB962C8B-B14F-4D97-AF65-F5344CB8AC3E}">
        <p14:creationId xmlns:p14="http://schemas.microsoft.com/office/powerpoint/2010/main" val="3782461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F6CE1-0A93-F17F-6390-E0B99F5EF241}"/>
              </a:ext>
            </a:extLst>
          </p:cNvPr>
          <p:cNvSpPr>
            <a:spLocks noGrp="1"/>
          </p:cNvSpPr>
          <p:nvPr>
            <p:ph type="ctrTitle"/>
          </p:nvPr>
        </p:nvSpPr>
        <p:spPr>
          <a:xfrm>
            <a:off x="1524000" y="224286"/>
            <a:ext cx="9144000" cy="1748287"/>
          </a:xfrm>
        </p:spPr>
        <p:txBody>
          <a:bodyPr>
            <a:normAutofit/>
          </a:bodyPr>
          <a:lstStyle/>
          <a:p>
            <a:pPr algn="l"/>
            <a:r>
              <a:rPr lang="en-IN" sz="2400" b="1" dirty="0">
                <a:latin typeface="Times New Roman" panose="02020603050405020304" pitchFamily="18" charset="0"/>
                <a:cs typeface="Times New Roman" panose="02020603050405020304" pitchFamily="18" charset="0"/>
              </a:rPr>
              <a:t>The test which I have performed till now</a:t>
            </a:r>
            <a:br>
              <a:rPr lang="en-IN" dirty="0"/>
            </a:br>
            <a:endParaRPr lang="en-IN" dirty="0"/>
          </a:p>
        </p:txBody>
      </p:sp>
      <p:sp>
        <p:nvSpPr>
          <p:cNvPr id="3" name="Subtitle 2">
            <a:extLst>
              <a:ext uri="{FF2B5EF4-FFF2-40B4-BE49-F238E27FC236}">
                <a16:creationId xmlns:a16="http://schemas.microsoft.com/office/drawing/2014/main" id="{F2D9A63C-B6B3-8468-E7B8-05918CACDE54}"/>
              </a:ext>
            </a:extLst>
          </p:cNvPr>
          <p:cNvSpPr>
            <a:spLocks noGrp="1"/>
          </p:cNvSpPr>
          <p:nvPr>
            <p:ph type="subTitle" idx="1"/>
          </p:nvPr>
        </p:nvSpPr>
        <p:spPr>
          <a:xfrm>
            <a:off x="1524000" y="770626"/>
            <a:ext cx="9144000" cy="1915065"/>
          </a:xfrm>
        </p:spPr>
        <p:txBody>
          <a:bodyPr>
            <a:normAutofit/>
          </a:bodyPr>
          <a:lstStyle/>
          <a:p>
            <a:pPr algn="l"/>
            <a:endParaRPr lang="en-IN" b="1" dirty="0"/>
          </a:p>
          <a:p>
            <a:pPr marL="457200" indent="-457200" algn="l">
              <a:buFont typeface="+mj-lt"/>
              <a:buAutoNum type="arabicPeriod"/>
            </a:pPr>
            <a:r>
              <a:rPr lang="en-IN" sz="2000" dirty="0">
                <a:latin typeface="Times New Roman" panose="02020603050405020304" pitchFamily="18" charset="0"/>
                <a:cs typeface="Times New Roman" panose="02020603050405020304" pitchFamily="18" charset="0"/>
              </a:rPr>
              <a:t>Compression test at different temperatures and at different strain     rates</a:t>
            </a:r>
          </a:p>
          <a:p>
            <a:pPr marL="457200" indent="-457200" algn="l">
              <a:buFont typeface="+mj-lt"/>
              <a:buAutoNum type="arabicPeriod"/>
            </a:pPr>
            <a:r>
              <a:rPr lang="en-IN" sz="2000" dirty="0">
                <a:latin typeface="Times New Roman" panose="02020603050405020304" pitchFamily="18" charset="0"/>
                <a:cs typeface="Times New Roman" panose="02020603050405020304" pitchFamily="18" charset="0"/>
              </a:rPr>
              <a:t>XRD as Cast sample</a:t>
            </a:r>
          </a:p>
          <a:p>
            <a:pPr marL="457200" indent="-457200" algn="l">
              <a:buFont typeface="+mj-lt"/>
              <a:buAutoNum type="arabicPeriod"/>
            </a:pPr>
            <a:r>
              <a:rPr lang="en-IN" sz="2000" dirty="0">
                <a:latin typeface="Times New Roman" panose="02020603050405020304" pitchFamily="18" charset="0"/>
                <a:cs typeface="Times New Roman" panose="02020603050405020304" pitchFamily="18" charset="0"/>
              </a:rPr>
              <a:t>EBSD/EDS</a:t>
            </a:r>
          </a:p>
          <a:p>
            <a:pPr algn="l"/>
            <a:endParaRPr lang="en-IN" dirty="0"/>
          </a:p>
          <a:p>
            <a:endParaRPr lang="en-IN" dirty="0"/>
          </a:p>
        </p:txBody>
      </p:sp>
      <p:sp>
        <p:nvSpPr>
          <p:cNvPr id="4" name="TextBox 3">
            <a:extLst>
              <a:ext uri="{FF2B5EF4-FFF2-40B4-BE49-F238E27FC236}">
                <a16:creationId xmlns:a16="http://schemas.microsoft.com/office/drawing/2014/main" id="{EAA497EC-C926-9F33-64EF-3C2AF4796B67}"/>
              </a:ext>
            </a:extLst>
          </p:cNvPr>
          <p:cNvSpPr txBox="1"/>
          <p:nvPr/>
        </p:nvSpPr>
        <p:spPr>
          <a:xfrm>
            <a:off x="1524000" y="3588588"/>
            <a:ext cx="7522234"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The test which we have to perform in future </a:t>
            </a:r>
          </a:p>
          <a:p>
            <a:endParaRPr lang="en-IN" sz="24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8920955-8B06-6912-CED3-3EF473D7E622}"/>
              </a:ext>
            </a:extLst>
          </p:cNvPr>
          <p:cNvSpPr txBox="1"/>
          <p:nvPr/>
        </p:nvSpPr>
        <p:spPr>
          <a:xfrm>
            <a:off x="1524000" y="4258155"/>
            <a:ext cx="6176513" cy="1015663"/>
          </a:xfrm>
          <a:prstGeom prst="rect">
            <a:avLst/>
          </a:prstGeom>
          <a:noFill/>
        </p:spPr>
        <p:txBody>
          <a:bodyPr wrap="square" rtlCol="0">
            <a:spAutoFit/>
          </a:bodyPr>
          <a:lstStyle/>
          <a:p>
            <a:pPr marL="457200" indent="-457200">
              <a:buFont typeface="+mj-lt"/>
              <a:buAutoNum type="arabicPeriod"/>
            </a:pPr>
            <a:r>
              <a:rPr lang="en-IN" sz="2000" dirty="0"/>
              <a:t>Optical microscope images.</a:t>
            </a:r>
          </a:p>
          <a:p>
            <a:pPr marL="457200" indent="-457200">
              <a:buFont typeface="+mj-lt"/>
              <a:buAutoNum type="arabicPeriod"/>
            </a:pPr>
            <a:r>
              <a:rPr lang="en-IN" sz="2000" dirty="0"/>
              <a:t>Corrosion/oxidation test.</a:t>
            </a:r>
          </a:p>
          <a:p>
            <a:pPr marL="457200" indent="-457200">
              <a:buFont typeface="+mj-lt"/>
              <a:buAutoNum type="arabicPeriod"/>
            </a:pPr>
            <a:r>
              <a:rPr lang="en-IN" sz="2000" dirty="0"/>
              <a:t>Hardness test from centre to   periphery</a:t>
            </a:r>
          </a:p>
        </p:txBody>
      </p:sp>
    </p:spTree>
    <p:extLst>
      <p:ext uri="{BB962C8B-B14F-4D97-AF65-F5344CB8AC3E}">
        <p14:creationId xmlns:p14="http://schemas.microsoft.com/office/powerpoint/2010/main" val="1402641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3EF70-0845-7C24-1483-5A73E7388DFB}"/>
              </a:ext>
            </a:extLst>
          </p:cNvPr>
          <p:cNvSpPr>
            <a:spLocks noGrp="1"/>
          </p:cNvSpPr>
          <p:nvPr>
            <p:ph type="title"/>
          </p:nvPr>
        </p:nvSpPr>
        <p:spPr>
          <a:xfrm>
            <a:off x="838200" y="247291"/>
            <a:ext cx="10515600" cy="1017917"/>
          </a:xfrm>
        </p:spPr>
        <p:txBody>
          <a:bodyPr>
            <a:normAutofit fontScale="90000"/>
          </a:bodyPr>
          <a:lstStyle/>
          <a:p>
            <a:r>
              <a:rPr lang="en-IN" sz="2400" b="1" dirty="0">
                <a:latin typeface="Times New Roman" panose="02020603050405020304" pitchFamily="18" charset="0"/>
                <a:cs typeface="Times New Roman" panose="02020603050405020304" pitchFamily="18" charset="0"/>
              </a:rPr>
              <a:t>Experimental Works</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(1) As Cast Sample preparation </a:t>
            </a:r>
          </a:p>
        </p:txBody>
      </p:sp>
      <p:sp>
        <p:nvSpPr>
          <p:cNvPr id="3" name="Content Placeholder 2">
            <a:extLst>
              <a:ext uri="{FF2B5EF4-FFF2-40B4-BE49-F238E27FC236}">
                <a16:creationId xmlns:a16="http://schemas.microsoft.com/office/drawing/2014/main" id="{AA81B242-BB1F-44F8-6771-598B518F0238}"/>
              </a:ext>
            </a:extLst>
          </p:cNvPr>
          <p:cNvSpPr>
            <a:spLocks noGrp="1"/>
          </p:cNvSpPr>
          <p:nvPr>
            <p:ph idx="1"/>
          </p:nvPr>
        </p:nvSpPr>
        <p:spPr>
          <a:xfrm>
            <a:off x="838200" y="1265208"/>
            <a:ext cx="10515600" cy="4911755"/>
          </a:xfrm>
        </p:spPr>
        <p:txBody>
          <a:bodyPr>
            <a:normAutofit/>
          </a:bodyPr>
          <a:lstStyle/>
          <a:p>
            <a:pPr marL="0" indent="0" algn="just">
              <a:buNone/>
            </a:pP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The Cr, Fe, Nb, and Ti raw materials with high purity has mixed in the specific composition: Cr</a:t>
            </a:r>
            <a:r>
              <a:rPr lang="en-IN" sz="2000" baseline="-25000" dirty="0">
                <a:latin typeface="Times New Roman" panose="02020603050405020304" pitchFamily="18" charset="0"/>
                <a:cs typeface="Times New Roman" panose="02020603050405020304" pitchFamily="18" charset="0"/>
              </a:rPr>
              <a:t>20</a:t>
            </a:r>
            <a:r>
              <a:rPr lang="en-IN" sz="2000" dirty="0">
                <a:latin typeface="Times New Roman" panose="02020603050405020304" pitchFamily="18" charset="0"/>
                <a:cs typeface="Times New Roman" panose="02020603050405020304" pitchFamily="18" charset="0"/>
              </a:rPr>
              <a:t>Fe</a:t>
            </a:r>
            <a:r>
              <a:rPr lang="en-IN" sz="2000" baseline="-25000" dirty="0">
                <a:latin typeface="Times New Roman" panose="02020603050405020304" pitchFamily="18" charset="0"/>
                <a:cs typeface="Times New Roman" panose="02020603050405020304" pitchFamily="18" charset="0"/>
              </a:rPr>
              <a:t>20</a:t>
            </a:r>
            <a:r>
              <a:rPr lang="en-IN" sz="2000" dirty="0">
                <a:latin typeface="Times New Roman" panose="02020603050405020304" pitchFamily="18" charset="0"/>
                <a:cs typeface="Times New Roman" panose="02020603050405020304" pitchFamily="18" charset="0"/>
              </a:rPr>
              <a:t>Nb</a:t>
            </a:r>
            <a:r>
              <a:rPr lang="en-IN" sz="2000" baseline="-25000" dirty="0">
                <a:latin typeface="Times New Roman" panose="02020603050405020304" pitchFamily="18" charset="0"/>
                <a:cs typeface="Times New Roman" panose="02020603050405020304" pitchFamily="18" charset="0"/>
              </a:rPr>
              <a:t>30</a:t>
            </a:r>
            <a:r>
              <a:rPr lang="en-IN" sz="2000" dirty="0">
                <a:latin typeface="Times New Roman" panose="02020603050405020304" pitchFamily="18" charset="0"/>
                <a:cs typeface="Times New Roman" panose="02020603050405020304" pitchFamily="18" charset="0"/>
              </a:rPr>
              <a:t>Ti</a:t>
            </a:r>
            <a:r>
              <a:rPr lang="en-IN" sz="2000" baseline="-25000" dirty="0">
                <a:latin typeface="Times New Roman" panose="02020603050405020304" pitchFamily="18" charset="0"/>
                <a:cs typeface="Times New Roman" panose="02020603050405020304" pitchFamily="18" charset="0"/>
              </a:rPr>
              <a:t>30 .</a:t>
            </a:r>
            <a:endParaRPr lang="en-IN" sz="2000" dirty="0">
              <a:latin typeface="Times New Roman" panose="02020603050405020304" pitchFamily="18" charset="0"/>
              <a:cs typeface="Times New Roman" panose="02020603050405020304" pitchFamily="18" charset="0"/>
            </a:endParaRPr>
          </a:p>
          <a:p>
            <a:pPr marL="0" indent="0" algn="just">
              <a:buNone/>
            </a:pPr>
            <a:r>
              <a:rPr lang="en-IN" sz="2000" dirty="0">
                <a:latin typeface="Times New Roman" panose="02020603050405020304" pitchFamily="18" charset="0"/>
                <a:cs typeface="Times New Roman" panose="02020603050405020304" pitchFamily="18" charset="0"/>
              </a:rPr>
              <a:t>The purity and form of these materials are listed as:</a:t>
            </a:r>
          </a:p>
          <a:p>
            <a:pPr marL="0" indent="0" algn="just">
              <a:buNone/>
            </a:pPr>
            <a:r>
              <a:rPr lang="en-IN" sz="2000" dirty="0">
                <a:latin typeface="Times New Roman" panose="02020603050405020304" pitchFamily="18" charset="0"/>
                <a:cs typeface="Times New Roman" panose="02020603050405020304" pitchFamily="18" charset="0"/>
              </a:rPr>
              <a:t>Cr- pieces,99% purity</a:t>
            </a:r>
          </a:p>
          <a:p>
            <a:pPr marL="0" indent="0" algn="just">
              <a:buNone/>
            </a:pPr>
            <a:r>
              <a:rPr lang="en-IN" sz="2000" dirty="0">
                <a:latin typeface="Times New Roman" panose="02020603050405020304" pitchFamily="18" charset="0"/>
                <a:cs typeface="Times New Roman" panose="02020603050405020304" pitchFamily="18" charset="0"/>
              </a:rPr>
              <a:t>Fe-pieces, 99.99% purity</a:t>
            </a:r>
          </a:p>
          <a:p>
            <a:pPr marL="0" indent="0" algn="just">
              <a:buNone/>
            </a:pPr>
            <a:r>
              <a:rPr lang="en-IN" sz="2000" dirty="0">
                <a:latin typeface="Times New Roman" panose="02020603050405020304" pitchFamily="18" charset="0"/>
                <a:cs typeface="Times New Roman" panose="02020603050405020304" pitchFamily="18" charset="0"/>
              </a:rPr>
              <a:t>Nb- pieces, 99.8% purity</a:t>
            </a:r>
          </a:p>
          <a:p>
            <a:pPr marL="0" indent="0" algn="just">
              <a:buNone/>
            </a:pPr>
            <a:r>
              <a:rPr lang="en-IN" sz="2000" dirty="0">
                <a:latin typeface="Times New Roman" panose="02020603050405020304" pitchFamily="18" charset="0"/>
                <a:cs typeface="Times New Roman" panose="02020603050405020304" pitchFamily="18" charset="0"/>
              </a:rPr>
              <a:t>Ti- pieces, CP titanium</a:t>
            </a:r>
          </a:p>
          <a:p>
            <a:pPr marL="0" indent="0" algn="just">
              <a:buNone/>
            </a:pPr>
            <a:endParaRPr lang="en-IN" dirty="0"/>
          </a:p>
        </p:txBody>
      </p:sp>
      <p:pic>
        <p:nvPicPr>
          <p:cNvPr id="13" name="Picture 12">
            <a:extLst>
              <a:ext uri="{FF2B5EF4-FFF2-40B4-BE49-F238E27FC236}">
                <a16:creationId xmlns:a16="http://schemas.microsoft.com/office/drawing/2014/main" id="{B6F45950-BEFB-5E38-BDAA-9CAA70E35B7F}"/>
              </a:ext>
            </a:extLst>
          </p:cNvPr>
          <p:cNvPicPr>
            <a:picLocks noChangeAspect="1"/>
          </p:cNvPicPr>
          <p:nvPr/>
        </p:nvPicPr>
        <p:blipFill>
          <a:blip r:embed="rId2"/>
          <a:stretch>
            <a:fillRect/>
          </a:stretch>
        </p:blipFill>
        <p:spPr>
          <a:xfrm>
            <a:off x="3864632" y="2890730"/>
            <a:ext cx="8249695" cy="3326490"/>
          </a:xfrm>
          <a:prstGeom prst="rect">
            <a:avLst/>
          </a:prstGeom>
        </p:spPr>
      </p:pic>
    </p:spTree>
    <p:extLst>
      <p:ext uri="{BB962C8B-B14F-4D97-AF65-F5344CB8AC3E}">
        <p14:creationId xmlns:p14="http://schemas.microsoft.com/office/powerpoint/2010/main" val="3827819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F84349-C49D-149B-04C2-06A2FA3B5EC4}"/>
              </a:ext>
            </a:extLst>
          </p:cNvPr>
          <p:cNvSpPr>
            <a:spLocks noGrp="1"/>
          </p:cNvSpPr>
          <p:nvPr>
            <p:ph idx="1"/>
          </p:nvPr>
        </p:nvSpPr>
        <p:spPr>
          <a:xfrm>
            <a:off x="454325" y="793630"/>
            <a:ext cx="10899475" cy="5383333"/>
          </a:xfrm>
        </p:spPr>
        <p:txBody>
          <a:bodyPr/>
          <a:lstStyle/>
          <a:p>
            <a:r>
              <a:rPr lang="en-IN" sz="2400" dirty="0">
                <a:latin typeface="Times New Roman" panose="02020603050405020304" pitchFamily="18" charset="0"/>
                <a:cs typeface="Times New Roman" panose="02020603050405020304" pitchFamily="18" charset="0"/>
              </a:rPr>
              <a:t>All of these raw materials were Arc-melted under high purity argon gas atmosphere multiple times (8 times) to ensure proper homogenization.</a:t>
            </a:r>
          </a:p>
          <a:p>
            <a:endParaRPr lang="en-IN" dirty="0"/>
          </a:p>
        </p:txBody>
      </p:sp>
      <p:pic>
        <p:nvPicPr>
          <p:cNvPr id="5" name="Picture 4">
            <a:extLst>
              <a:ext uri="{FF2B5EF4-FFF2-40B4-BE49-F238E27FC236}">
                <a16:creationId xmlns:a16="http://schemas.microsoft.com/office/drawing/2014/main" id="{EF6C912E-0060-C79A-1236-EA3DB1DC19C6}"/>
              </a:ext>
            </a:extLst>
          </p:cNvPr>
          <p:cNvPicPr>
            <a:picLocks noChangeAspect="1"/>
          </p:cNvPicPr>
          <p:nvPr/>
        </p:nvPicPr>
        <p:blipFill>
          <a:blip r:embed="rId2"/>
          <a:stretch>
            <a:fillRect/>
          </a:stretch>
        </p:blipFill>
        <p:spPr>
          <a:xfrm>
            <a:off x="741224" y="1771290"/>
            <a:ext cx="2145022" cy="1788545"/>
          </a:xfrm>
          <a:prstGeom prst="rect">
            <a:avLst/>
          </a:prstGeom>
        </p:spPr>
      </p:pic>
      <p:pic>
        <p:nvPicPr>
          <p:cNvPr id="7" name="Picture 6">
            <a:extLst>
              <a:ext uri="{FF2B5EF4-FFF2-40B4-BE49-F238E27FC236}">
                <a16:creationId xmlns:a16="http://schemas.microsoft.com/office/drawing/2014/main" id="{8DD5591C-A582-1157-1663-84E773833F2E}"/>
              </a:ext>
            </a:extLst>
          </p:cNvPr>
          <p:cNvPicPr>
            <a:picLocks noChangeAspect="1"/>
          </p:cNvPicPr>
          <p:nvPr/>
        </p:nvPicPr>
        <p:blipFill>
          <a:blip r:embed="rId3"/>
          <a:stretch>
            <a:fillRect/>
          </a:stretch>
        </p:blipFill>
        <p:spPr>
          <a:xfrm>
            <a:off x="3275153" y="1771290"/>
            <a:ext cx="2240002" cy="1788546"/>
          </a:xfrm>
          <a:prstGeom prst="rect">
            <a:avLst/>
          </a:prstGeom>
        </p:spPr>
      </p:pic>
      <p:pic>
        <p:nvPicPr>
          <p:cNvPr id="9" name="Picture 8">
            <a:extLst>
              <a:ext uri="{FF2B5EF4-FFF2-40B4-BE49-F238E27FC236}">
                <a16:creationId xmlns:a16="http://schemas.microsoft.com/office/drawing/2014/main" id="{D4DDE313-712A-BF02-B22C-B21FEF0C112F}"/>
              </a:ext>
            </a:extLst>
          </p:cNvPr>
          <p:cNvPicPr>
            <a:picLocks noChangeAspect="1"/>
          </p:cNvPicPr>
          <p:nvPr/>
        </p:nvPicPr>
        <p:blipFill>
          <a:blip r:embed="rId4"/>
          <a:stretch>
            <a:fillRect/>
          </a:stretch>
        </p:blipFill>
        <p:spPr>
          <a:xfrm>
            <a:off x="5817798" y="1771289"/>
            <a:ext cx="2214115" cy="1788546"/>
          </a:xfrm>
          <a:prstGeom prst="rect">
            <a:avLst/>
          </a:prstGeom>
        </p:spPr>
      </p:pic>
      <p:pic>
        <p:nvPicPr>
          <p:cNvPr id="11" name="Picture 10">
            <a:extLst>
              <a:ext uri="{FF2B5EF4-FFF2-40B4-BE49-F238E27FC236}">
                <a16:creationId xmlns:a16="http://schemas.microsoft.com/office/drawing/2014/main" id="{533B4616-6AD3-F416-D388-BE7A22181714}"/>
              </a:ext>
            </a:extLst>
          </p:cNvPr>
          <p:cNvPicPr>
            <a:picLocks noChangeAspect="1"/>
          </p:cNvPicPr>
          <p:nvPr/>
        </p:nvPicPr>
        <p:blipFill>
          <a:blip r:embed="rId5"/>
          <a:stretch>
            <a:fillRect/>
          </a:stretch>
        </p:blipFill>
        <p:spPr>
          <a:xfrm>
            <a:off x="8446707" y="1771290"/>
            <a:ext cx="1874809" cy="1788545"/>
          </a:xfrm>
          <a:prstGeom prst="rect">
            <a:avLst/>
          </a:prstGeom>
        </p:spPr>
      </p:pic>
      <p:sp>
        <p:nvSpPr>
          <p:cNvPr id="12" name="TextBox 11">
            <a:extLst>
              <a:ext uri="{FF2B5EF4-FFF2-40B4-BE49-F238E27FC236}">
                <a16:creationId xmlns:a16="http://schemas.microsoft.com/office/drawing/2014/main" id="{B4595390-A39B-A712-70D7-24592FF290BB}"/>
              </a:ext>
            </a:extLst>
          </p:cNvPr>
          <p:cNvSpPr txBox="1"/>
          <p:nvPr/>
        </p:nvSpPr>
        <p:spPr>
          <a:xfrm>
            <a:off x="1912179" y="3830128"/>
            <a:ext cx="2725947" cy="369332"/>
          </a:xfrm>
          <a:prstGeom prst="rect">
            <a:avLst/>
          </a:prstGeom>
          <a:noFill/>
        </p:spPr>
        <p:txBody>
          <a:bodyPr wrap="square" rtlCol="0">
            <a:spAutoFit/>
          </a:bodyPr>
          <a:lstStyle/>
          <a:p>
            <a:r>
              <a:rPr lang="en-IN" dirty="0"/>
              <a:t>In vacuum arc furnace</a:t>
            </a:r>
          </a:p>
        </p:txBody>
      </p:sp>
      <p:sp>
        <p:nvSpPr>
          <p:cNvPr id="14" name="TextBox 13">
            <a:extLst>
              <a:ext uri="{FF2B5EF4-FFF2-40B4-BE49-F238E27FC236}">
                <a16:creationId xmlns:a16="http://schemas.microsoft.com/office/drawing/2014/main" id="{1668C7AD-4704-62CA-CC99-10A639905D4F}"/>
              </a:ext>
            </a:extLst>
          </p:cNvPr>
          <p:cNvSpPr txBox="1"/>
          <p:nvPr/>
        </p:nvSpPr>
        <p:spPr>
          <a:xfrm>
            <a:off x="6590581" y="3830128"/>
            <a:ext cx="4083170" cy="369332"/>
          </a:xfrm>
          <a:prstGeom prst="rect">
            <a:avLst/>
          </a:prstGeom>
          <a:noFill/>
        </p:spPr>
        <p:txBody>
          <a:bodyPr wrap="square" rtlCol="0">
            <a:spAutoFit/>
          </a:bodyPr>
          <a:lstStyle/>
          <a:p>
            <a:r>
              <a:rPr lang="en-IN" dirty="0"/>
              <a:t>After removing from arc furnace</a:t>
            </a:r>
          </a:p>
        </p:txBody>
      </p:sp>
      <p:pic>
        <p:nvPicPr>
          <p:cNvPr id="4" name="Picture 3">
            <a:extLst>
              <a:ext uri="{FF2B5EF4-FFF2-40B4-BE49-F238E27FC236}">
                <a16:creationId xmlns:a16="http://schemas.microsoft.com/office/drawing/2014/main" id="{2B4BE3CC-4774-30CD-57BD-5845687EA9C0}"/>
              </a:ext>
            </a:extLst>
          </p:cNvPr>
          <p:cNvPicPr>
            <a:picLocks noChangeAspect="1"/>
          </p:cNvPicPr>
          <p:nvPr/>
        </p:nvPicPr>
        <p:blipFill>
          <a:blip r:embed="rId6"/>
          <a:stretch>
            <a:fillRect/>
          </a:stretch>
        </p:blipFill>
        <p:spPr>
          <a:xfrm>
            <a:off x="3480885" y="4469752"/>
            <a:ext cx="4470159" cy="2126581"/>
          </a:xfrm>
          <a:prstGeom prst="rect">
            <a:avLst/>
          </a:prstGeom>
        </p:spPr>
      </p:pic>
    </p:spTree>
    <p:extLst>
      <p:ext uri="{BB962C8B-B14F-4D97-AF65-F5344CB8AC3E}">
        <p14:creationId xmlns:p14="http://schemas.microsoft.com/office/powerpoint/2010/main" val="3547520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4883F-F7AB-1E0F-1F8E-7A5DE57A3F4A}"/>
              </a:ext>
            </a:extLst>
          </p:cNvPr>
          <p:cNvSpPr>
            <a:spLocks noGrp="1"/>
          </p:cNvSpPr>
          <p:nvPr>
            <p:ph type="ctrTitle"/>
          </p:nvPr>
        </p:nvSpPr>
        <p:spPr>
          <a:xfrm>
            <a:off x="1063925" y="155275"/>
            <a:ext cx="9144000" cy="699668"/>
          </a:xfrm>
        </p:spPr>
        <p:txBody>
          <a:bodyPr>
            <a:normAutofit fontScale="90000"/>
          </a:bodyPr>
          <a:lstStyle/>
          <a:p>
            <a:pPr algn="l"/>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 (2) Hot-Compression Testing Experimental Procedure:</a:t>
            </a:r>
          </a:p>
        </p:txBody>
      </p:sp>
      <p:sp>
        <p:nvSpPr>
          <p:cNvPr id="3" name="Subtitle 2">
            <a:extLst>
              <a:ext uri="{FF2B5EF4-FFF2-40B4-BE49-F238E27FC236}">
                <a16:creationId xmlns:a16="http://schemas.microsoft.com/office/drawing/2014/main" id="{DE9156CB-7604-2BB1-3BA1-C81A8B8969E6}"/>
              </a:ext>
            </a:extLst>
          </p:cNvPr>
          <p:cNvSpPr>
            <a:spLocks noGrp="1"/>
          </p:cNvSpPr>
          <p:nvPr>
            <p:ph type="subTitle" idx="1"/>
          </p:nvPr>
        </p:nvSpPr>
        <p:spPr>
          <a:xfrm>
            <a:off x="1063925" y="1282460"/>
            <a:ext cx="9144000" cy="4790535"/>
          </a:xfrm>
        </p:spPr>
        <p:txBody>
          <a:bodyPr>
            <a:normAutofit/>
          </a:bodyPr>
          <a:lstStyle/>
          <a:p>
            <a:pPr algn="l"/>
            <a:r>
              <a:rPr lang="en-IN" sz="2000" dirty="0">
                <a:latin typeface="Times New Roman" panose="02020603050405020304" pitchFamily="18" charset="0"/>
                <a:cs typeface="Times New Roman" panose="02020603050405020304" pitchFamily="18" charset="0"/>
              </a:rPr>
              <a:t>As cast Sample which was fabricated by vacuum arc melting in presence of high purity argon gas atmosphere was cut by electric-discharge machining as shown in fig. To produce hot compression cylindrical sample of 9 mm height and 6 mm diameter.</a:t>
            </a:r>
          </a:p>
          <a:p>
            <a:pPr algn="just"/>
            <a:r>
              <a:rPr lang="en-IN" sz="2000" dirty="0">
                <a:latin typeface="Times New Roman" panose="02020603050405020304" pitchFamily="18" charset="0"/>
                <a:cs typeface="Times New Roman" panose="02020603050405020304" pitchFamily="18" charset="0"/>
              </a:rPr>
              <a:t>Then the Compression test were performed on DARTEC Hydraulic Universal material testing machine fitted with a high temperature furnace for mechanical testing at elevated temperatures.</a:t>
            </a:r>
          </a:p>
          <a:p>
            <a:pPr algn="just"/>
            <a:r>
              <a:rPr lang="en-IN" sz="2000" dirty="0">
                <a:latin typeface="Times New Roman" panose="02020603050405020304" pitchFamily="18" charset="0"/>
                <a:cs typeface="Times New Roman" panose="02020603050405020304" pitchFamily="18" charset="0"/>
              </a:rPr>
              <a:t>DARTEC Hydraulic Universal material testing machine on which compression test were performed having maximum load applying capacity is 100kN.</a:t>
            </a:r>
          </a:p>
        </p:txBody>
      </p:sp>
      <p:pic>
        <p:nvPicPr>
          <p:cNvPr id="5" name="Picture 4">
            <a:extLst>
              <a:ext uri="{FF2B5EF4-FFF2-40B4-BE49-F238E27FC236}">
                <a16:creationId xmlns:a16="http://schemas.microsoft.com/office/drawing/2014/main" id="{508AD823-DC26-69BC-FC5C-0AC8474BBA0C}"/>
              </a:ext>
            </a:extLst>
          </p:cNvPr>
          <p:cNvPicPr>
            <a:picLocks noChangeAspect="1"/>
          </p:cNvPicPr>
          <p:nvPr/>
        </p:nvPicPr>
        <p:blipFill>
          <a:blip r:embed="rId2"/>
          <a:stretch>
            <a:fillRect/>
          </a:stretch>
        </p:blipFill>
        <p:spPr>
          <a:xfrm>
            <a:off x="966159" y="4062818"/>
            <a:ext cx="5621621" cy="2437694"/>
          </a:xfrm>
          <a:prstGeom prst="rect">
            <a:avLst/>
          </a:prstGeom>
        </p:spPr>
      </p:pic>
    </p:spTree>
    <p:extLst>
      <p:ext uri="{BB962C8B-B14F-4D97-AF65-F5344CB8AC3E}">
        <p14:creationId xmlns:p14="http://schemas.microsoft.com/office/powerpoint/2010/main" val="3613485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AF9718-0AE4-F0A4-4B07-B608E520BBD6}"/>
              </a:ext>
            </a:extLst>
          </p:cNvPr>
          <p:cNvPicPr>
            <a:picLocks noChangeAspect="1"/>
          </p:cNvPicPr>
          <p:nvPr/>
        </p:nvPicPr>
        <p:blipFill>
          <a:blip r:embed="rId2"/>
          <a:stretch>
            <a:fillRect/>
          </a:stretch>
        </p:blipFill>
        <p:spPr>
          <a:xfrm>
            <a:off x="6205166" y="409553"/>
            <a:ext cx="3324249" cy="6038894"/>
          </a:xfrm>
          <a:prstGeom prst="rect">
            <a:avLst/>
          </a:prstGeom>
        </p:spPr>
      </p:pic>
      <p:sp>
        <p:nvSpPr>
          <p:cNvPr id="4" name="TextBox 3">
            <a:extLst>
              <a:ext uri="{FF2B5EF4-FFF2-40B4-BE49-F238E27FC236}">
                <a16:creationId xmlns:a16="http://schemas.microsoft.com/office/drawing/2014/main" id="{4AE3D2DA-F99C-489E-8BF7-988E1B0933E6}"/>
              </a:ext>
            </a:extLst>
          </p:cNvPr>
          <p:cNvSpPr txBox="1"/>
          <p:nvPr/>
        </p:nvSpPr>
        <p:spPr>
          <a:xfrm>
            <a:off x="1207698" y="2858219"/>
            <a:ext cx="4313040" cy="369332"/>
          </a:xfrm>
          <a:prstGeom prst="rect">
            <a:avLst/>
          </a:prstGeom>
          <a:noFill/>
        </p:spPr>
        <p:txBody>
          <a:bodyPr wrap="none" rtlCol="0">
            <a:spAutoFit/>
          </a:bodyPr>
          <a:lstStyle/>
          <a:p>
            <a:r>
              <a:rPr lang="en-IN" dirty="0"/>
              <a:t>EDM is used for cutting different samples.</a:t>
            </a:r>
          </a:p>
        </p:txBody>
      </p:sp>
    </p:spTree>
    <p:extLst>
      <p:ext uri="{BB962C8B-B14F-4D97-AF65-F5344CB8AC3E}">
        <p14:creationId xmlns:p14="http://schemas.microsoft.com/office/powerpoint/2010/main" val="2936569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6481E1-8A31-9A19-7234-CDD98F0F2C10}"/>
              </a:ext>
            </a:extLst>
          </p:cNvPr>
          <p:cNvPicPr>
            <a:picLocks noChangeAspect="1"/>
          </p:cNvPicPr>
          <p:nvPr/>
        </p:nvPicPr>
        <p:blipFill>
          <a:blip r:embed="rId2"/>
          <a:stretch>
            <a:fillRect/>
          </a:stretch>
        </p:blipFill>
        <p:spPr>
          <a:xfrm>
            <a:off x="5520906" y="966158"/>
            <a:ext cx="4548996" cy="5110634"/>
          </a:xfrm>
          <a:prstGeom prst="rect">
            <a:avLst/>
          </a:prstGeom>
        </p:spPr>
      </p:pic>
      <p:sp>
        <p:nvSpPr>
          <p:cNvPr id="4" name="TextBox 3">
            <a:extLst>
              <a:ext uri="{FF2B5EF4-FFF2-40B4-BE49-F238E27FC236}">
                <a16:creationId xmlns:a16="http://schemas.microsoft.com/office/drawing/2014/main" id="{9E792349-B394-009A-158F-846AF7EB8F8F}"/>
              </a:ext>
            </a:extLst>
          </p:cNvPr>
          <p:cNvSpPr txBox="1"/>
          <p:nvPr/>
        </p:nvSpPr>
        <p:spPr>
          <a:xfrm>
            <a:off x="368061" y="1334219"/>
            <a:ext cx="4587346" cy="1754326"/>
          </a:xfrm>
          <a:prstGeom prst="rect">
            <a:avLst/>
          </a:prstGeom>
          <a:noFill/>
        </p:spPr>
        <p:txBody>
          <a:bodyPr wrap="none" rtlCol="0">
            <a:spAutoFit/>
          </a:bodyPr>
          <a:lstStyle/>
          <a:p>
            <a:pPr algn="just"/>
            <a:r>
              <a:rPr lang="en-IN" dirty="0"/>
              <a:t>The Compression test were performed on</a:t>
            </a:r>
          </a:p>
          <a:p>
            <a:pPr algn="just"/>
            <a:r>
              <a:rPr lang="en-IN" dirty="0"/>
              <a:t>DARTEC Hydraulic Universal material</a:t>
            </a:r>
          </a:p>
          <a:p>
            <a:pPr algn="just"/>
            <a:r>
              <a:rPr lang="en-IN" dirty="0"/>
              <a:t> testing machine fitted with a high</a:t>
            </a:r>
          </a:p>
          <a:p>
            <a:pPr algn="just"/>
            <a:r>
              <a:rPr lang="en-IN" dirty="0"/>
              <a:t> temperature furnace for mechanical testing </a:t>
            </a:r>
          </a:p>
          <a:p>
            <a:pPr algn="just"/>
            <a:r>
              <a:rPr lang="en-IN" dirty="0"/>
              <a:t>at elevated temperatures.</a:t>
            </a:r>
          </a:p>
          <a:p>
            <a:pPr algn="just"/>
            <a:r>
              <a:rPr lang="en-IN" dirty="0"/>
              <a:t>Its load applying capacity is 100kN.</a:t>
            </a:r>
          </a:p>
        </p:txBody>
      </p:sp>
    </p:spTree>
    <p:extLst>
      <p:ext uri="{BB962C8B-B14F-4D97-AF65-F5344CB8AC3E}">
        <p14:creationId xmlns:p14="http://schemas.microsoft.com/office/powerpoint/2010/main" val="3623020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B18B3A-6147-0703-CBEB-3A510A347A40}"/>
              </a:ext>
            </a:extLst>
          </p:cNvPr>
          <p:cNvPicPr>
            <a:picLocks noChangeAspect="1"/>
          </p:cNvPicPr>
          <p:nvPr/>
        </p:nvPicPr>
        <p:blipFill>
          <a:blip r:embed="rId2"/>
          <a:stretch>
            <a:fillRect/>
          </a:stretch>
        </p:blipFill>
        <p:spPr>
          <a:xfrm>
            <a:off x="380129" y="1825068"/>
            <a:ext cx="5193102" cy="3974758"/>
          </a:xfrm>
          <a:prstGeom prst="rect">
            <a:avLst/>
          </a:prstGeom>
        </p:spPr>
      </p:pic>
      <p:pic>
        <p:nvPicPr>
          <p:cNvPr id="7" name="Picture 6">
            <a:extLst>
              <a:ext uri="{FF2B5EF4-FFF2-40B4-BE49-F238E27FC236}">
                <a16:creationId xmlns:a16="http://schemas.microsoft.com/office/drawing/2014/main" id="{6C2E9BC5-8D61-6C14-CE06-8A36E382D4F3}"/>
              </a:ext>
            </a:extLst>
          </p:cNvPr>
          <p:cNvPicPr>
            <a:picLocks noChangeAspect="1"/>
          </p:cNvPicPr>
          <p:nvPr/>
        </p:nvPicPr>
        <p:blipFill>
          <a:blip r:embed="rId3"/>
          <a:stretch>
            <a:fillRect/>
          </a:stretch>
        </p:blipFill>
        <p:spPr>
          <a:xfrm>
            <a:off x="6096000" y="1665908"/>
            <a:ext cx="5193102" cy="3974757"/>
          </a:xfrm>
          <a:prstGeom prst="rect">
            <a:avLst/>
          </a:prstGeom>
        </p:spPr>
      </p:pic>
      <p:sp>
        <p:nvSpPr>
          <p:cNvPr id="3" name="TextBox 2">
            <a:extLst>
              <a:ext uri="{FF2B5EF4-FFF2-40B4-BE49-F238E27FC236}">
                <a16:creationId xmlns:a16="http://schemas.microsoft.com/office/drawing/2014/main" id="{79B43F00-92B5-0EA2-C296-D94BF229290E}"/>
              </a:ext>
            </a:extLst>
          </p:cNvPr>
          <p:cNvSpPr txBox="1"/>
          <p:nvPr/>
        </p:nvSpPr>
        <p:spPr>
          <a:xfrm>
            <a:off x="672860" y="271504"/>
            <a:ext cx="10518476" cy="830997"/>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The Load-Displacement and Engineering Stress-Strain Curve of different samples at different Strain rates and different Temperatures </a:t>
            </a:r>
          </a:p>
        </p:txBody>
      </p:sp>
    </p:spTree>
    <p:extLst>
      <p:ext uri="{BB962C8B-B14F-4D97-AF65-F5344CB8AC3E}">
        <p14:creationId xmlns:p14="http://schemas.microsoft.com/office/powerpoint/2010/main" val="2995129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DE6999-D487-F1C2-88FC-DEB708525A76}"/>
              </a:ext>
            </a:extLst>
          </p:cNvPr>
          <p:cNvPicPr>
            <a:picLocks noChangeAspect="1"/>
          </p:cNvPicPr>
          <p:nvPr/>
        </p:nvPicPr>
        <p:blipFill>
          <a:blip r:embed="rId2"/>
          <a:stretch>
            <a:fillRect/>
          </a:stretch>
        </p:blipFill>
        <p:spPr>
          <a:xfrm>
            <a:off x="114945" y="1575758"/>
            <a:ext cx="5466236" cy="4183812"/>
          </a:xfrm>
          <a:prstGeom prst="rect">
            <a:avLst/>
          </a:prstGeom>
        </p:spPr>
      </p:pic>
      <p:pic>
        <p:nvPicPr>
          <p:cNvPr id="7" name="Picture 6">
            <a:extLst>
              <a:ext uri="{FF2B5EF4-FFF2-40B4-BE49-F238E27FC236}">
                <a16:creationId xmlns:a16="http://schemas.microsoft.com/office/drawing/2014/main" id="{53A27B79-F2BD-3CC1-8EAB-A00F98E283CC}"/>
              </a:ext>
            </a:extLst>
          </p:cNvPr>
          <p:cNvPicPr>
            <a:picLocks noChangeAspect="1"/>
          </p:cNvPicPr>
          <p:nvPr/>
        </p:nvPicPr>
        <p:blipFill>
          <a:blip r:embed="rId3"/>
          <a:stretch>
            <a:fillRect/>
          </a:stretch>
        </p:blipFill>
        <p:spPr>
          <a:xfrm>
            <a:off x="5581181" y="1460739"/>
            <a:ext cx="5466236" cy="4183812"/>
          </a:xfrm>
          <a:prstGeom prst="rect">
            <a:avLst/>
          </a:prstGeom>
        </p:spPr>
      </p:pic>
    </p:spTree>
    <p:extLst>
      <p:ext uri="{BB962C8B-B14F-4D97-AF65-F5344CB8AC3E}">
        <p14:creationId xmlns:p14="http://schemas.microsoft.com/office/powerpoint/2010/main" val="949908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2B438D-5514-322B-5C9F-25E3363E8D72}"/>
              </a:ext>
            </a:extLst>
          </p:cNvPr>
          <p:cNvPicPr>
            <a:picLocks noChangeAspect="1"/>
          </p:cNvPicPr>
          <p:nvPr/>
        </p:nvPicPr>
        <p:blipFill>
          <a:blip r:embed="rId2"/>
          <a:stretch>
            <a:fillRect/>
          </a:stretch>
        </p:blipFill>
        <p:spPr>
          <a:xfrm>
            <a:off x="396741" y="1055298"/>
            <a:ext cx="5003395" cy="4540370"/>
          </a:xfrm>
          <a:prstGeom prst="rect">
            <a:avLst/>
          </a:prstGeom>
        </p:spPr>
      </p:pic>
      <p:pic>
        <p:nvPicPr>
          <p:cNvPr id="5" name="Picture 4">
            <a:extLst>
              <a:ext uri="{FF2B5EF4-FFF2-40B4-BE49-F238E27FC236}">
                <a16:creationId xmlns:a16="http://schemas.microsoft.com/office/drawing/2014/main" id="{DEC87420-CC68-869C-33B7-F9AE97FCE862}"/>
              </a:ext>
            </a:extLst>
          </p:cNvPr>
          <p:cNvPicPr>
            <a:picLocks noChangeAspect="1"/>
          </p:cNvPicPr>
          <p:nvPr/>
        </p:nvPicPr>
        <p:blipFill>
          <a:blip r:embed="rId3"/>
          <a:stretch>
            <a:fillRect/>
          </a:stretch>
        </p:blipFill>
        <p:spPr>
          <a:xfrm>
            <a:off x="5670430" y="1262331"/>
            <a:ext cx="5313872" cy="4333337"/>
          </a:xfrm>
          <a:prstGeom prst="rect">
            <a:avLst/>
          </a:prstGeom>
        </p:spPr>
      </p:pic>
    </p:spTree>
    <p:extLst>
      <p:ext uri="{BB962C8B-B14F-4D97-AF65-F5344CB8AC3E}">
        <p14:creationId xmlns:p14="http://schemas.microsoft.com/office/powerpoint/2010/main" val="12645241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E9EE80-B104-5C50-58BF-2AE5F4728ADF}"/>
              </a:ext>
            </a:extLst>
          </p:cNvPr>
          <p:cNvPicPr>
            <a:picLocks noChangeAspect="1"/>
          </p:cNvPicPr>
          <p:nvPr/>
        </p:nvPicPr>
        <p:blipFill>
          <a:blip r:embed="rId2"/>
          <a:stretch>
            <a:fillRect/>
          </a:stretch>
        </p:blipFill>
        <p:spPr>
          <a:xfrm>
            <a:off x="97692" y="1275272"/>
            <a:ext cx="5762519" cy="4307456"/>
          </a:xfrm>
          <a:prstGeom prst="rect">
            <a:avLst/>
          </a:prstGeom>
        </p:spPr>
      </p:pic>
      <p:pic>
        <p:nvPicPr>
          <p:cNvPr id="9" name="Picture 8">
            <a:extLst>
              <a:ext uri="{FF2B5EF4-FFF2-40B4-BE49-F238E27FC236}">
                <a16:creationId xmlns:a16="http://schemas.microsoft.com/office/drawing/2014/main" id="{CFFB3696-6CFB-4D66-03D6-1D048E89F3EB}"/>
              </a:ext>
            </a:extLst>
          </p:cNvPr>
          <p:cNvPicPr>
            <a:picLocks noChangeAspect="1"/>
          </p:cNvPicPr>
          <p:nvPr/>
        </p:nvPicPr>
        <p:blipFill>
          <a:blip r:embed="rId3"/>
          <a:stretch>
            <a:fillRect/>
          </a:stretch>
        </p:blipFill>
        <p:spPr>
          <a:xfrm>
            <a:off x="5520905" y="1275272"/>
            <a:ext cx="5762519" cy="4307456"/>
          </a:xfrm>
          <a:prstGeom prst="rect">
            <a:avLst/>
          </a:prstGeom>
        </p:spPr>
      </p:pic>
    </p:spTree>
    <p:extLst>
      <p:ext uri="{BB962C8B-B14F-4D97-AF65-F5344CB8AC3E}">
        <p14:creationId xmlns:p14="http://schemas.microsoft.com/office/powerpoint/2010/main" val="2908718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750CDF-56F4-B5A3-A0CF-593C9DB05C77}"/>
              </a:ext>
            </a:extLst>
          </p:cNvPr>
          <p:cNvPicPr>
            <a:picLocks noChangeAspect="1"/>
          </p:cNvPicPr>
          <p:nvPr/>
        </p:nvPicPr>
        <p:blipFill>
          <a:blip r:embed="rId2"/>
          <a:stretch>
            <a:fillRect/>
          </a:stretch>
        </p:blipFill>
        <p:spPr>
          <a:xfrm>
            <a:off x="229964" y="667110"/>
            <a:ext cx="5940798" cy="5408762"/>
          </a:xfrm>
          <a:prstGeom prst="rect">
            <a:avLst/>
          </a:prstGeom>
        </p:spPr>
      </p:pic>
      <p:pic>
        <p:nvPicPr>
          <p:cNvPr id="5" name="Picture 4">
            <a:extLst>
              <a:ext uri="{FF2B5EF4-FFF2-40B4-BE49-F238E27FC236}">
                <a16:creationId xmlns:a16="http://schemas.microsoft.com/office/drawing/2014/main" id="{630AC585-8DBD-95BB-5AF2-04AB7B492B39}"/>
              </a:ext>
            </a:extLst>
          </p:cNvPr>
          <p:cNvPicPr>
            <a:picLocks noChangeAspect="1"/>
          </p:cNvPicPr>
          <p:nvPr/>
        </p:nvPicPr>
        <p:blipFill>
          <a:blip r:embed="rId3"/>
          <a:stretch>
            <a:fillRect/>
          </a:stretch>
        </p:blipFill>
        <p:spPr>
          <a:xfrm>
            <a:off x="5969478" y="782128"/>
            <a:ext cx="5285117" cy="5293744"/>
          </a:xfrm>
          <a:prstGeom prst="rect">
            <a:avLst/>
          </a:prstGeom>
        </p:spPr>
      </p:pic>
      <p:graphicFrame>
        <p:nvGraphicFramePr>
          <p:cNvPr id="4" name="Table 3">
            <a:extLst>
              <a:ext uri="{FF2B5EF4-FFF2-40B4-BE49-F238E27FC236}">
                <a16:creationId xmlns:a16="http://schemas.microsoft.com/office/drawing/2014/main" id="{F68F6F66-838C-B5DB-E001-ACCDBB7072A6}"/>
              </a:ext>
            </a:extLst>
          </p:cNvPr>
          <p:cNvGraphicFramePr>
            <a:graphicFrameLocks noGrp="1"/>
          </p:cNvGraphicFramePr>
          <p:nvPr/>
        </p:nvGraphicFramePr>
        <p:xfrm>
          <a:off x="8443103" y="3605268"/>
          <a:ext cx="2667001" cy="1460186"/>
        </p:xfrm>
        <a:graphic>
          <a:graphicData uri="http://schemas.openxmlformats.org/drawingml/2006/table">
            <a:tbl>
              <a:tblPr>
                <a:tableStyleId>{5C22544A-7EE6-4342-B048-85BDC9FD1C3A}</a:tableStyleId>
              </a:tblPr>
              <a:tblGrid>
                <a:gridCol w="1366838">
                  <a:extLst>
                    <a:ext uri="{9D8B030D-6E8A-4147-A177-3AD203B41FA5}">
                      <a16:colId xmlns:a16="http://schemas.microsoft.com/office/drawing/2014/main" val="3832980328"/>
                    </a:ext>
                  </a:extLst>
                </a:gridCol>
                <a:gridCol w="1300163">
                  <a:extLst>
                    <a:ext uri="{9D8B030D-6E8A-4147-A177-3AD203B41FA5}">
                      <a16:colId xmlns:a16="http://schemas.microsoft.com/office/drawing/2014/main" val="3791153292"/>
                    </a:ext>
                  </a:extLst>
                </a:gridCol>
              </a:tblGrid>
              <a:tr h="152400">
                <a:tc>
                  <a:txBody>
                    <a:bodyPr/>
                    <a:lstStyle/>
                    <a:p>
                      <a:pPr algn="l" fontAlgn="ctr">
                        <a:buNone/>
                      </a:pPr>
                      <a:r>
                        <a:rPr lang="en-IN" sz="900">
                          <a:effectLst/>
                        </a:rPr>
                        <a:t>Equation</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y = a + b*x</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71597537"/>
                  </a:ext>
                </a:extLst>
              </a:tr>
              <a:tr h="147638">
                <a:tc>
                  <a:txBody>
                    <a:bodyPr/>
                    <a:lstStyle/>
                    <a:p>
                      <a:pPr algn="l" fontAlgn="ctr">
                        <a:buNone/>
                      </a:pPr>
                      <a:r>
                        <a:rPr lang="en-IN" sz="900">
                          <a:effectLst/>
                        </a:rPr>
                        <a:t>Plot</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Eng. Stress</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762132925"/>
                  </a:ext>
                </a:extLst>
              </a:tr>
              <a:tr h="147638">
                <a:tc>
                  <a:txBody>
                    <a:bodyPr/>
                    <a:lstStyle/>
                    <a:p>
                      <a:pPr algn="l" fontAlgn="ctr">
                        <a:buNone/>
                      </a:pPr>
                      <a:r>
                        <a:rPr lang="en-IN" sz="900">
                          <a:effectLst/>
                        </a:rPr>
                        <a:t>Weight</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No Weighting</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054080302"/>
                  </a:ext>
                </a:extLst>
              </a:tr>
              <a:tr h="147638">
                <a:tc>
                  <a:txBody>
                    <a:bodyPr/>
                    <a:lstStyle/>
                    <a:p>
                      <a:pPr algn="l" fontAlgn="ctr">
                        <a:buNone/>
                      </a:pPr>
                      <a:r>
                        <a:rPr lang="en-IN" sz="900">
                          <a:effectLst/>
                        </a:rPr>
                        <a:t>Intercept</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-10.93182 ± 0.54629</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834919760"/>
                  </a:ext>
                </a:extLst>
              </a:tr>
              <a:tr h="147638">
                <a:tc>
                  <a:txBody>
                    <a:bodyPr/>
                    <a:lstStyle/>
                    <a:p>
                      <a:pPr algn="l" fontAlgn="ctr">
                        <a:buNone/>
                      </a:pPr>
                      <a:r>
                        <a:rPr lang="en-IN" sz="900">
                          <a:effectLst/>
                        </a:rPr>
                        <a:t>Slope</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16432.77412 ± 37.20559</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680849260"/>
                  </a:ext>
                </a:extLst>
              </a:tr>
              <a:tr h="0">
                <a:tc>
                  <a:txBody>
                    <a:bodyPr/>
                    <a:lstStyle/>
                    <a:p>
                      <a:pPr algn="l" fontAlgn="ctr">
                        <a:buNone/>
                      </a:pPr>
                      <a:r>
                        <a:rPr lang="en-IN" sz="900">
                          <a:effectLst/>
                        </a:rPr>
                        <a:t>Residual Sum of Squares</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55.32073</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429298492"/>
                  </a:ext>
                </a:extLst>
              </a:tr>
              <a:tr h="147638">
                <a:tc>
                  <a:txBody>
                    <a:bodyPr/>
                    <a:lstStyle/>
                    <a:p>
                      <a:pPr algn="l" fontAlgn="ctr">
                        <a:buNone/>
                      </a:pPr>
                      <a:r>
                        <a:rPr lang="en-IN" sz="900">
                          <a:effectLst/>
                        </a:rPr>
                        <a:t>Pearson's r</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dirty="0">
                          <a:effectLst/>
                        </a:rPr>
                        <a:t>0.99982</a:t>
                      </a:r>
                      <a:endParaRPr lang="en-IN" sz="900"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511675622"/>
                  </a:ext>
                </a:extLst>
              </a:tr>
              <a:tr h="147638">
                <a:tc>
                  <a:txBody>
                    <a:bodyPr/>
                    <a:lstStyle/>
                    <a:p>
                      <a:pPr algn="l" fontAlgn="ctr">
                        <a:buNone/>
                      </a:pPr>
                      <a:r>
                        <a:rPr lang="en-IN" sz="900">
                          <a:effectLst/>
                        </a:rPr>
                        <a:t>R-Square (COD)</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0.99964</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624866888"/>
                  </a:ext>
                </a:extLst>
              </a:tr>
              <a:tr h="147638">
                <a:tc>
                  <a:txBody>
                    <a:bodyPr/>
                    <a:lstStyle/>
                    <a:p>
                      <a:pPr algn="l" fontAlgn="ctr">
                        <a:buNone/>
                      </a:pPr>
                      <a:r>
                        <a:rPr lang="en-IN" sz="900">
                          <a:effectLst/>
                        </a:rPr>
                        <a:t>Adj. R-Square</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0.99963</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690934695"/>
                  </a:ext>
                </a:extLst>
              </a:tr>
              <a:tr h="0">
                <a:tc gridSpan="2">
                  <a:txBody>
                    <a:bodyPr/>
                    <a:lstStyle/>
                    <a:p>
                      <a:pPr algn="l" fontAlgn="t">
                        <a:buNone/>
                      </a:pPr>
                      <a:endParaRPr lang="en-IN" sz="900" dirty="0">
                        <a:solidFill>
                          <a:srgbClr val="000000"/>
                        </a:solidFill>
                        <a:effectLst/>
                        <a:latin typeface="Arial" panose="020B0604020202020204" pitchFamily="34" charset="0"/>
                      </a:endParaRPr>
                    </a:p>
                  </a:txBody>
                  <a:tcPr marL="0" marR="0" marT="0" marB="0"/>
                </a:tc>
                <a:tc hMerge="1">
                  <a:txBody>
                    <a:bodyPr/>
                    <a:lstStyle/>
                    <a:p>
                      <a:endParaRPr lang="en-IN"/>
                    </a:p>
                  </a:txBody>
                  <a:tcPr/>
                </a:tc>
                <a:extLst>
                  <a:ext uri="{0D108BD9-81ED-4DB2-BD59-A6C34878D82A}">
                    <a16:rowId xmlns:a16="http://schemas.microsoft.com/office/drawing/2014/main" val="3494310561"/>
                  </a:ext>
                </a:extLst>
              </a:tr>
            </a:tbl>
          </a:graphicData>
        </a:graphic>
      </p:graphicFrame>
    </p:spTree>
    <p:extLst>
      <p:ext uri="{BB962C8B-B14F-4D97-AF65-F5344CB8AC3E}">
        <p14:creationId xmlns:p14="http://schemas.microsoft.com/office/powerpoint/2010/main" val="233013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6CE686-A485-C628-376F-CA259E0BF1D5}"/>
              </a:ext>
            </a:extLst>
          </p:cNvPr>
          <p:cNvPicPr>
            <a:picLocks noChangeAspect="1"/>
          </p:cNvPicPr>
          <p:nvPr/>
        </p:nvPicPr>
        <p:blipFill>
          <a:blip r:embed="rId2"/>
          <a:stretch>
            <a:fillRect/>
          </a:stretch>
        </p:blipFill>
        <p:spPr>
          <a:xfrm>
            <a:off x="609526" y="1069674"/>
            <a:ext cx="4848119" cy="4554748"/>
          </a:xfrm>
          <a:prstGeom prst="rect">
            <a:avLst/>
          </a:prstGeom>
        </p:spPr>
      </p:pic>
      <p:pic>
        <p:nvPicPr>
          <p:cNvPr id="5" name="Picture 4">
            <a:extLst>
              <a:ext uri="{FF2B5EF4-FFF2-40B4-BE49-F238E27FC236}">
                <a16:creationId xmlns:a16="http://schemas.microsoft.com/office/drawing/2014/main" id="{66088308-C362-3701-82DC-413A1C665D64}"/>
              </a:ext>
            </a:extLst>
          </p:cNvPr>
          <p:cNvPicPr>
            <a:picLocks noChangeAspect="1"/>
          </p:cNvPicPr>
          <p:nvPr/>
        </p:nvPicPr>
        <p:blipFill>
          <a:blip r:embed="rId3"/>
          <a:stretch>
            <a:fillRect/>
          </a:stretch>
        </p:blipFill>
        <p:spPr>
          <a:xfrm>
            <a:off x="5802701" y="1069674"/>
            <a:ext cx="5313872" cy="4390847"/>
          </a:xfrm>
          <a:prstGeom prst="rect">
            <a:avLst/>
          </a:prstGeom>
        </p:spPr>
      </p:pic>
    </p:spTree>
    <p:extLst>
      <p:ext uri="{BB962C8B-B14F-4D97-AF65-F5344CB8AC3E}">
        <p14:creationId xmlns:p14="http://schemas.microsoft.com/office/powerpoint/2010/main" val="741649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E828CA-DE56-D078-3F24-34C54E8236C3}"/>
              </a:ext>
            </a:extLst>
          </p:cNvPr>
          <p:cNvPicPr>
            <a:picLocks noChangeAspect="1"/>
          </p:cNvPicPr>
          <p:nvPr/>
        </p:nvPicPr>
        <p:blipFill>
          <a:blip r:embed="rId2"/>
          <a:stretch>
            <a:fillRect/>
          </a:stretch>
        </p:blipFill>
        <p:spPr>
          <a:xfrm>
            <a:off x="5595592" y="862639"/>
            <a:ext cx="5940799" cy="4556217"/>
          </a:xfrm>
          <a:prstGeom prst="rect">
            <a:avLst/>
          </a:prstGeom>
        </p:spPr>
      </p:pic>
      <p:pic>
        <p:nvPicPr>
          <p:cNvPr id="7" name="Picture 6">
            <a:extLst>
              <a:ext uri="{FF2B5EF4-FFF2-40B4-BE49-F238E27FC236}">
                <a16:creationId xmlns:a16="http://schemas.microsoft.com/office/drawing/2014/main" id="{6EC43EA0-2096-20B0-89D4-E5C0ED41921C}"/>
              </a:ext>
            </a:extLst>
          </p:cNvPr>
          <p:cNvPicPr>
            <a:picLocks noChangeAspect="1"/>
          </p:cNvPicPr>
          <p:nvPr/>
        </p:nvPicPr>
        <p:blipFill>
          <a:blip r:embed="rId3"/>
          <a:stretch>
            <a:fillRect/>
          </a:stretch>
        </p:blipFill>
        <p:spPr>
          <a:xfrm>
            <a:off x="0" y="937401"/>
            <a:ext cx="5940799" cy="4556217"/>
          </a:xfrm>
          <a:prstGeom prst="rect">
            <a:avLst/>
          </a:prstGeom>
        </p:spPr>
      </p:pic>
      <p:graphicFrame>
        <p:nvGraphicFramePr>
          <p:cNvPr id="8" name="Table 7">
            <a:extLst>
              <a:ext uri="{FF2B5EF4-FFF2-40B4-BE49-F238E27FC236}">
                <a16:creationId xmlns:a16="http://schemas.microsoft.com/office/drawing/2014/main" id="{F62C3609-54DF-5BF9-B20B-F8B47EEE5B63}"/>
              </a:ext>
            </a:extLst>
          </p:cNvPr>
          <p:cNvGraphicFramePr>
            <a:graphicFrameLocks noGrp="1"/>
          </p:cNvGraphicFramePr>
          <p:nvPr/>
        </p:nvGraphicFramePr>
        <p:xfrm>
          <a:off x="7275661" y="3140747"/>
          <a:ext cx="2759735" cy="1371600"/>
        </p:xfrm>
        <a:graphic>
          <a:graphicData uri="http://schemas.openxmlformats.org/drawingml/2006/table">
            <a:tbl>
              <a:tblPr>
                <a:tableStyleId>{5C22544A-7EE6-4342-B048-85BDC9FD1C3A}</a:tableStyleId>
              </a:tblPr>
              <a:tblGrid>
                <a:gridCol w="1414364">
                  <a:extLst>
                    <a:ext uri="{9D8B030D-6E8A-4147-A177-3AD203B41FA5}">
                      <a16:colId xmlns:a16="http://schemas.microsoft.com/office/drawing/2014/main" val="2487489725"/>
                    </a:ext>
                  </a:extLst>
                </a:gridCol>
                <a:gridCol w="1345371">
                  <a:extLst>
                    <a:ext uri="{9D8B030D-6E8A-4147-A177-3AD203B41FA5}">
                      <a16:colId xmlns:a16="http://schemas.microsoft.com/office/drawing/2014/main" val="1961381613"/>
                    </a:ext>
                  </a:extLst>
                </a:gridCol>
              </a:tblGrid>
              <a:tr h="135505">
                <a:tc>
                  <a:txBody>
                    <a:bodyPr/>
                    <a:lstStyle/>
                    <a:p>
                      <a:pPr algn="l" fontAlgn="ctr">
                        <a:buNone/>
                      </a:pPr>
                      <a:r>
                        <a:rPr lang="en-IN" sz="900">
                          <a:effectLst/>
                        </a:rPr>
                        <a:t>Equation</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y = a + b*x</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797642372"/>
                  </a:ext>
                </a:extLst>
              </a:tr>
              <a:tr h="131271">
                <a:tc>
                  <a:txBody>
                    <a:bodyPr/>
                    <a:lstStyle/>
                    <a:p>
                      <a:pPr algn="l" fontAlgn="ctr">
                        <a:buNone/>
                      </a:pPr>
                      <a:r>
                        <a:rPr lang="en-IN" sz="900">
                          <a:effectLst/>
                        </a:rPr>
                        <a:t>Plot</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Eng. Stress</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586037112"/>
                  </a:ext>
                </a:extLst>
              </a:tr>
              <a:tr h="131271">
                <a:tc>
                  <a:txBody>
                    <a:bodyPr/>
                    <a:lstStyle/>
                    <a:p>
                      <a:pPr algn="l" fontAlgn="ctr">
                        <a:buNone/>
                      </a:pPr>
                      <a:r>
                        <a:rPr lang="en-IN" sz="900" dirty="0">
                          <a:effectLst/>
                        </a:rPr>
                        <a:t>Weight</a:t>
                      </a:r>
                      <a:endParaRPr lang="en-IN" sz="900" dirty="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No Weighting</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1204260753"/>
                  </a:ext>
                </a:extLst>
              </a:tr>
              <a:tr h="131271">
                <a:tc>
                  <a:txBody>
                    <a:bodyPr/>
                    <a:lstStyle/>
                    <a:p>
                      <a:pPr algn="l" fontAlgn="ctr">
                        <a:buNone/>
                      </a:pPr>
                      <a:r>
                        <a:rPr lang="en-IN" sz="900">
                          <a:effectLst/>
                        </a:rPr>
                        <a:t>Intercept</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-2.90828 ± 0.50861</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4151432482"/>
                  </a:ext>
                </a:extLst>
              </a:tr>
              <a:tr h="131271">
                <a:tc>
                  <a:txBody>
                    <a:bodyPr/>
                    <a:lstStyle/>
                    <a:p>
                      <a:pPr algn="l" fontAlgn="ctr">
                        <a:buNone/>
                      </a:pPr>
                      <a:r>
                        <a:rPr lang="en-IN" sz="900">
                          <a:effectLst/>
                        </a:rPr>
                        <a:t>Slope</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16696.99487 ± 31.33434</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970679490"/>
                  </a:ext>
                </a:extLst>
              </a:tr>
              <a:tr h="131271">
                <a:tc>
                  <a:txBody>
                    <a:bodyPr/>
                    <a:lstStyle/>
                    <a:p>
                      <a:pPr algn="l" fontAlgn="ctr">
                        <a:buNone/>
                      </a:pPr>
                      <a:r>
                        <a:rPr lang="en-IN" sz="900">
                          <a:effectLst/>
                        </a:rPr>
                        <a:t>Residual Sum of Squares</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782.36111</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499024802"/>
                  </a:ext>
                </a:extLst>
              </a:tr>
              <a:tr h="131271">
                <a:tc>
                  <a:txBody>
                    <a:bodyPr/>
                    <a:lstStyle/>
                    <a:p>
                      <a:pPr algn="l" fontAlgn="ctr">
                        <a:buNone/>
                      </a:pPr>
                      <a:r>
                        <a:rPr lang="en-IN" sz="900">
                          <a:effectLst/>
                        </a:rPr>
                        <a:t>Pearson's r</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0.99973</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117509081"/>
                  </a:ext>
                </a:extLst>
              </a:tr>
              <a:tr h="131271">
                <a:tc>
                  <a:txBody>
                    <a:bodyPr/>
                    <a:lstStyle/>
                    <a:p>
                      <a:pPr algn="l" fontAlgn="ctr">
                        <a:buNone/>
                      </a:pPr>
                      <a:r>
                        <a:rPr lang="en-IN" sz="900">
                          <a:effectLst/>
                        </a:rPr>
                        <a:t>R-Square (COD)</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0.99945</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549344025"/>
                  </a:ext>
                </a:extLst>
              </a:tr>
              <a:tr h="131271">
                <a:tc>
                  <a:txBody>
                    <a:bodyPr/>
                    <a:lstStyle/>
                    <a:p>
                      <a:pPr algn="l" fontAlgn="ctr">
                        <a:buNone/>
                      </a:pPr>
                      <a:r>
                        <a:rPr lang="en-IN" sz="900">
                          <a:effectLst/>
                        </a:rPr>
                        <a:t>Adj. R-Square</a:t>
                      </a:r>
                      <a:endParaRPr lang="en-IN" sz="900">
                        <a:solidFill>
                          <a:srgbClr val="000000"/>
                        </a:solidFill>
                        <a:effectLst/>
                        <a:latin typeface="Arial" panose="020B0604020202020204" pitchFamily="34" charset="0"/>
                      </a:endParaRPr>
                    </a:p>
                  </a:txBody>
                  <a:tcPr marL="0" marR="0" marT="0" marB="0" anchor="ctr"/>
                </a:tc>
                <a:tc>
                  <a:txBody>
                    <a:bodyPr/>
                    <a:lstStyle/>
                    <a:p>
                      <a:pPr algn="ctr" fontAlgn="t">
                        <a:buNone/>
                      </a:pPr>
                      <a:r>
                        <a:rPr lang="en-IN" sz="900">
                          <a:effectLst/>
                        </a:rPr>
                        <a:t>0.99945</a:t>
                      </a:r>
                      <a:endParaRPr lang="en-IN" sz="90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364325495"/>
                  </a:ext>
                </a:extLst>
              </a:tr>
              <a:tr h="121954">
                <a:tc gridSpan="2">
                  <a:txBody>
                    <a:bodyPr/>
                    <a:lstStyle/>
                    <a:p>
                      <a:pPr algn="l" fontAlgn="t">
                        <a:buNone/>
                      </a:pPr>
                      <a:endParaRPr lang="en-IN" sz="900" dirty="0">
                        <a:solidFill>
                          <a:srgbClr val="000000"/>
                        </a:solidFill>
                        <a:effectLst/>
                        <a:latin typeface="Arial" panose="020B0604020202020204" pitchFamily="34" charset="0"/>
                      </a:endParaRPr>
                    </a:p>
                  </a:txBody>
                  <a:tcPr marL="0" marR="0" marT="0" marB="0"/>
                </a:tc>
                <a:tc hMerge="1">
                  <a:txBody>
                    <a:bodyPr/>
                    <a:lstStyle/>
                    <a:p>
                      <a:endParaRPr lang="en-IN"/>
                    </a:p>
                  </a:txBody>
                  <a:tcPr/>
                </a:tc>
                <a:extLst>
                  <a:ext uri="{0D108BD9-81ED-4DB2-BD59-A6C34878D82A}">
                    <a16:rowId xmlns:a16="http://schemas.microsoft.com/office/drawing/2014/main" val="1798053797"/>
                  </a:ext>
                </a:extLst>
              </a:tr>
            </a:tbl>
          </a:graphicData>
        </a:graphic>
      </p:graphicFrame>
    </p:spTree>
    <p:extLst>
      <p:ext uri="{BB962C8B-B14F-4D97-AF65-F5344CB8AC3E}">
        <p14:creationId xmlns:p14="http://schemas.microsoft.com/office/powerpoint/2010/main" val="31529575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3273CC-5B84-0E43-A2C2-BFE76499F6CD}"/>
              </a:ext>
            </a:extLst>
          </p:cNvPr>
          <p:cNvPicPr>
            <a:picLocks noChangeAspect="1"/>
          </p:cNvPicPr>
          <p:nvPr/>
        </p:nvPicPr>
        <p:blipFill>
          <a:blip r:embed="rId2"/>
          <a:stretch>
            <a:fillRect/>
          </a:stretch>
        </p:blipFill>
        <p:spPr>
          <a:xfrm>
            <a:off x="247217" y="652732"/>
            <a:ext cx="5607244" cy="5552536"/>
          </a:xfrm>
          <a:prstGeom prst="rect">
            <a:avLst/>
          </a:prstGeom>
        </p:spPr>
      </p:pic>
      <p:pic>
        <p:nvPicPr>
          <p:cNvPr id="5" name="Picture 4">
            <a:extLst>
              <a:ext uri="{FF2B5EF4-FFF2-40B4-BE49-F238E27FC236}">
                <a16:creationId xmlns:a16="http://schemas.microsoft.com/office/drawing/2014/main" id="{BFF09987-8A35-FA75-F2F5-45600ED43B34}"/>
              </a:ext>
            </a:extLst>
          </p:cNvPr>
          <p:cNvPicPr>
            <a:picLocks noChangeAspect="1"/>
          </p:cNvPicPr>
          <p:nvPr/>
        </p:nvPicPr>
        <p:blipFill>
          <a:blip r:embed="rId3"/>
          <a:stretch>
            <a:fillRect/>
          </a:stretch>
        </p:blipFill>
        <p:spPr>
          <a:xfrm>
            <a:off x="5446142" y="477329"/>
            <a:ext cx="5607244" cy="5727939"/>
          </a:xfrm>
          <a:prstGeom prst="rect">
            <a:avLst/>
          </a:prstGeom>
        </p:spPr>
      </p:pic>
    </p:spTree>
    <p:extLst>
      <p:ext uri="{BB962C8B-B14F-4D97-AF65-F5344CB8AC3E}">
        <p14:creationId xmlns:p14="http://schemas.microsoft.com/office/powerpoint/2010/main" val="2710852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C69030-A212-0AA8-1049-F846FF502ADB}"/>
              </a:ext>
            </a:extLst>
          </p:cNvPr>
          <p:cNvPicPr>
            <a:picLocks noChangeAspect="1"/>
          </p:cNvPicPr>
          <p:nvPr/>
        </p:nvPicPr>
        <p:blipFill>
          <a:blip r:embed="rId2"/>
          <a:stretch>
            <a:fillRect/>
          </a:stretch>
        </p:blipFill>
        <p:spPr>
          <a:xfrm>
            <a:off x="5273614" y="963282"/>
            <a:ext cx="5302444" cy="4931435"/>
          </a:xfrm>
          <a:prstGeom prst="rect">
            <a:avLst/>
          </a:prstGeom>
        </p:spPr>
      </p:pic>
      <p:pic>
        <p:nvPicPr>
          <p:cNvPr id="7" name="Picture 6">
            <a:extLst>
              <a:ext uri="{FF2B5EF4-FFF2-40B4-BE49-F238E27FC236}">
                <a16:creationId xmlns:a16="http://schemas.microsoft.com/office/drawing/2014/main" id="{B77EBB1C-18AD-D786-1FE7-D7CF0CCC0CB1}"/>
              </a:ext>
            </a:extLst>
          </p:cNvPr>
          <p:cNvPicPr>
            <a:picLocks noChangeAspect="1"/>
          </p:cNvPicPr>
          <p:nvPr/>
        </p:nvPicPr>
        <p:blipFill>
          <a:blip r:embed="rId3"/>
          <a:stretch>
            <a:fillRect/>
          </a:stretch>
        </p:blipFill>
        <p:spPr>
          <a:xfrm>
            <a:off x="379564" y="963282"/>
            <a:ext cx="5020572" cy="4931435"/>
          </a:xfrm>
          <a:prstGeom prst="rect">
            <a:avLst/>
          </a:prstGeom>
        </p:spPr>
      </p:pic>
    </p:spTree>
    <p:extLst>
      <p:ext uri="{BB962C8B-B14F-4D97-AF65-F5344CB8AC3E}">
        <p14:creationId xmlns:p14="http://schemas.microsoft.com/office/powerpoint/2010/main" val="1894697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093A60-ED95-12C1-CAEB-D8E6752540D6}"/>
              </a:ext>
            </a:extLst>
          </p:cNvPr>
          <p:cNvPicPr>
            <a:picLocks noChangeAspect="1"/>
          </p:cNvPicPr>
          <p:nvPr/>
        </p:nvPicPr>
        <p:blipFill>
          <a:blip r:embed="rId2"/>
          <a:stretch>
            <a:fillRect/>
          </a:stretch>
        </p:blipFill>
        <p:spPr>
          <a:xfrm>
            <a:off x="201211" y="770626"/>
            <a:ext cx="5469220" cy="5181600"/>
          </a:xfrm>
          <a:prstGeom prst="rect">
            <a:avLst/>
          </a:prstGeom>
        </p:spPr>
      </p:pic>
      <p:pic>
        <p:nvPicPr>
          <p:cNvPr id="7" name="Picture 6">
            <a:extLst>
              <a:ext uri="{FF2B5EF4-FFF2-40B4-BE49-F238E27FC236}">
                <a16:creationId xmlns:a16="http://schemas.microsoft.com/office/drawing/2014/main" id="{F125ACF5-6952-EA63-60BB-B8EF9AED5887}"/>
              </a:ext>
            </a:extLst>
          </p:cNvPr>
          <p:cNvPicPr>
            <a:picLocks noChangeAspect="1"/>
          </p:cNvPicPr>
          <p:nvPr/>
        </p:nvPicPr>
        <p:blipFill>
          <a:blip r:embed="rId3"/>
          <a:stretch>
            <a:fillRect/>
          </a:stretch>
        </p:blipFill>
        <p:spPr>
          <a:xfrm>
            <a:off x="5589918" y="905774"/>
            <a:ext cx="5469220" cy="5046452"/>
          </a:xfrm>
          <a:prstGeom prst="rect">
            <a:avLst/>
          </a:prstGeom>
        </p:spPr>
      </p:pic>
    </p:spTree>
    <p:extLst>
      <p:ext uri="{BB962C8B-B14F-4D97-AF65-F5344CB8AC3E}">
        <p14:creationId xmlns:p14="http://schemas.microsoft.com/office/powerpoint/2010/main" val="1352209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F5EE4D0-2651-F3F3-CB2B-3C71C447B0FC}"/>
              </a:ext>
            </a:extLst>
          </p:cNvPr>
          <p:cNvGraphicFramePr>
            <a:graphicFrameLocks noGrp="1"/>
          </p:cNvGraphicFramePr>
          <p:nvPr/>
        </p:nvGraphicFramePr>
        <p:xfrm>
          <a:off x="202322" y="1201947"/>
          <a:ext cx="11578071" cy="5040704"/>
        </p:xfrm>
        <a:graphic>
          <a:graphicData uri="http://schemas.openxmlformats.org/drawingml/2006/table">
            <a:tbl>
              <a:tblPr firstRow="1" bandRow="1">
                <a:tableStyleId>{5C22544A-7EE6-4342-B048-85BDC9FD1C3A}</a:tableStyleId>
              </a:tblPr>
              <a:tblGrid>
                <a:gridCol w="686184">
                  <a:extLst>
                    <a:ext uri="{9D8B030D-6E8A-4147-A177-3AD203B41FA5}">
                      <a16:colId xmlns:a16="http://schemas.microsoft.com/office/drawing/2014/main" val="478012656"/>
                    </a:ext>
                  </a:extLst>
                </a:gridCol>
                <a:gridCol w="1805305">
                  <a:extLst>
                    <a:ext uri="{9D8B030D-6E8A-4147-A177-3AD203B41FA5}">
                      <a16:colId xmlns:a16="http://schemas.microsoft.com/office/drawing/2014/main" val="399155137"/>
                    </a:ext>
                  </a:extLst>
                </a:gridCol>
                <a:gridCol w="1922272">
                  <a:extLst>
                    <a:ext uri="{9D8B030D-6E8A-4147-A177-3AD203B41FA5}">
                      <a16:colId xmlns:a16="http://schemas.microsoft.com/office/drawing/2014/main" val="4039416273"/>
                    </a:ext>
                  </a:extLst>
                </a:gridCol>
                <a:gridCol w="2119014">
                  <a:extLst>
                    <a:ext uri="{9D8B030D-6E8A-4147-A177-3AD203B41FA5}">
                      <a16:colId xmlns:a16="http://schemas.microsoft.com/office/drawing/2014/main" val="886925297"/>
                    </a:ext>
                  </a:extLst>
                </a:gridCol>
                <a:gridCol w="2119014">
                  <a:extLst>
                    <a:ext uri="{9D8B030D-6E8A-4147-A177-3AD203B41FA5}">
                      <a16:colId xmlns:a16="http://schemas.microsoft.com/office/drawing/2014/main" val="908712704"/>
                    </a:ext>
                  </a:extLst>
                </a:gridCol>
                <a:gridCol w="1909179">
                  <a:extLst>
                    <a:ext uri="{9D8B030D-6E8A-4147-A177-3AD203B41FA5}">
                      <a16:colId xmlns:a16="http://schemas.microsoft.com/office/drawing/2014/main" val="1444870779"/>
                    </a:ext>
                  </a:extLst>
                </a:gridCol>
                <a:gridCol w="1017103">
                  <a:extLst>
                    <a:ext uri="{9D8B030D-6E8A-4147-A177-3AD203B41FA5}">
                      <a16:colId xmlns:a16="http://schemas.microsoft.com/office/drawing/2014/main" val="2010525728"/>
                    </a:ext>
                  </a:extLst>
                </a:gridCol>
              </a:tblGrid>
              <a:tr h="735787">
                <a:tc>
                  <a:txBody>
                    <a:bodyPr/>
                    <a:lstStyle/>
                    <a:p>
                      <a:r>
                        <a:rPr lang="en-IN" dirty="0"/>
                        <a:t>S.N.</a:t>
                      </a:r>
                    </a:p>
                  </a:txBody>
                  <a:tcPr/>
                </a:tc>
                <a:tc>
                  <a:txBody>
                    <a:bodyPr/>
                    <a:lstStyle/>
                    <a:p>
                      <a:r>
                        <a:rPr lang="en-IN" dirty="0"/>
                        <a:t>Strain Rate (S</a:t>
                      </a:r>
                      <a:r>
                        <a:rPr lang="en-IN" baseline="30000" dirty="0"/>
                        <a:t>-1</a:t>
                      </a:r>
                      <a:r>
                        <a:rPr lang="en-IN" dirty="0"/>
                        <a:t>)</a:t>
                      </a:r>
                    </a:p>
                  </a:txBody>
                  <a:tcPr/>
                </a:tc>
                <a:tc>
                  <a:txBody>
                    <a:bodyPr/>
                    <a:lstStyle/>
                    <a:p>
                      <a:r>
                        <a:rPr lang="en-IN" dirty="0"/>
                        <a:t>Temperature(°C)</a:t>
                      </a:r>
                    </a:p>
                  </a:txBody>
                  <a:tcPr/>
                </a:tc>
                <a:tc>
                  <a:txBody>
                    <a:bodyPr/>
                    <a:lstStyle/>
                    <a:p>
                      <a:r>
                        <a:rPr lang="en-IN" dirty="0"/>
                        <a:t>Peak Load (</a:t>
                      </a:r>
                      <a:r>
                        <a:rPr lang="en-IN" dirty="0" err="1"/>
                        <a:t>kN</a:t>
                      </a:r>
                      <a:r>
                        <a:rPr lang="en-IN" dirty="0"/>
                        <a:t>)</a:t>
                      </a:r>
                    </a:p>
                  </a:txBody>
                  <a:tcPr/>
                </a:tc>
                <a:tc>
                  <a:txBody>
                    <a:bodyPr/>
                    <a:lstStyle/>
                    <a:p>
                      <a:r>
                        <a:rPr lang="en-IN" dirty="0"/>
                        <a:t>Displacement (mm)</a:t>
                      </a:r>
                    </a:p>
                  </a:txBody>
                  <a:tcPr/>
                </a:tc>
                <a:tc>
                  <a:txBody>
                    <a:bodyPr/>
                    <a:lstStyle/>
                    <a:p>
                      <a:r>
                        <a:rPr lang="en-IN" dirty="0"/>
                        <a:t>Peak Flow Stress (MPa)</a:t>
                      </a:r>
                    </a:p>
                  </a:txBody>
                  <a:tcPr/>
                </a:tc>
                <a:tc>
                  <a:txBody>
                    <a:bodyPr/>
                    <a:lstStyle/>
                    <a:p>
                      <a:r>
                        <a:rPr lang="en-IN" dirty="0"/>
                        <a:t>strain</a:t>
                      </a:r>
                    </a:p>
                  </a:txBody>
                  <a:tcPr/>
                </a:tc>
                <a:extLst>
                  <a:ext uri="{0D108BD9-81ED-4DB2-BD59-A6C34878D82A}">
                    <a16:rowId xmlns:a16="http://schemas.microsoft.com/office/drawing/2014/main" val="3947670875"/>
                  </a:ext>
                </a:extLst>
              </a:tr>
              <a:tr h="427440">
                <a:tc>
                  <a:txBody>
                    <a:bodyPr/>
                    <a:lstStyle/>
                    <a:p>
                      <a:r>
                        <a:rPr lang="en-IN" dirty="0"/>
                        <a:t>1</a:t>
                      </a:r>
                    </a:p>
                  </a:txBody>
                  <a:tcPr>
                    <a:solidFill>
                      <a:srgbClr val="92D050"/>
                    </a:solidFill>
                  </a:tcPr>
                </a:tc>
                <a:tc>
                  <a:txBody>
                    <a:bodyPr/>
                    <a:lstStyle/>
                    <a:p>
                      <a:r>
                        <a:rPr lang="en-IN" dirty="0"/>
                        <a:t>3*10-4</a:t>
                      </a:r>
                    </a:p>
                  </a:txBody>
                  <a:tcPr>
                    <a:solidFill>
                      <a:srgbClr val="92D050"/>
                    </a:solidFill>
                  </a:tcPr>
                </a:tc>
                <a:tc>
                  <a:txBody>
                    <a:bodyPr/>
                    <a:lstStyle/>
                    <a:p>
                      <a:r>
                        <a:rPr lang="en-IN" dirty="0"/>
                        <a:t>900</a:t>
                      </a:r>
                    </a:p>
                  </a:txBody>
                  <a:tcPr>
                    <a:solidFill>
                      <a:srgbClr val="92D050"/>
                    </a:solidFill>
                  </a:tcPr>
                </a:tc>
                <a:tc>
                  <a:txBody>
                    <a:bodyPr/>
                    <a:lstStyle/>
                    <a:p>
                      <a:r>
                        <a:rPr lang="en-IN" dirty="0"/>
                        <a:t>14.22</a:t>
                      </a:r>
                    </a:p>
                  </a:txBody>
                  <a:tcPr>
                    <a:solidFill>
                      <a:srgbClr val="92D050"/>
                    </a:solidFill>
                  </a:tcPr>
                </a:tc>
                <a:tc>
                  <a:txBody>
                    <a:bodyPr/>
                    <a:lstStyle/>
                    <a:p>
                      <a:r>
                        <a:rPr lang="en-IN" dirty="0"/>
                        <a:t>0.944</a:t>
                      </a:r>
                    </a:p>
                  </a:txBody>
                  <a:tcPr>
                    <a:solidFill>
                      <a:srgbClr val="92D050"/>
                    </a:solidFill>
                  </a:tcPr>
                </a:tc>
                <a:tc>
                  <a:txBody>
                    <a:bodyPr/>
                    <a:lstStyle/>
                    <a:p>
                      <a:r>
                        <a:rPr lang="en-IN" dirty="0"/>
                        <a:t>486.96</a:t>
                      </a:r>
                    </a:p>
                  </a:txBody>
                  <a:tcPr>
                    <a:solidFill>
                      <a:srgbClr val="92D050"/>
                    </a:solidFill>
                  </a:tcPr>
                </a:tc>
                <a:tc>
                  <a:txBody>
                    <a:bodyPr/>
                    <a:lstStyle/>
                    <a:p>
                      <a:r>
                        <a:rPr lang="en-IN" dirty="0"/>
                        <a:t>0.105</a:t>
                      </a:r>
                    </a:p>
                  </a:txBody>
                  <a:tcPr>
                    <a:solidFill>
                      <a:srgbClr val="92D050"/>
                    </a:solidFill>
                  </a:tcPr>
                </a:tc>
                <a:extLst>
                  <a:ext uri="{0D108BD9-81ED-4DB2-BD59-A6C34878D82A}">
                    <a16:rowId xmlns:a16="http://schemas.microsoft.com/office/drawing/2014/main" val="478459653"/>
                  </a:ext>
                </a:extLst>
              </a:tr>
              <a:tr h="421583">
                <a:tc>
                  <a:txBody>
                    <a:bodyPr/>
                    <a:lstStyle/>
                    <a:p>
                      <a:r>
                        <a:rPr lang="en-IN" dirty="0"/>
                        <a:t>2</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3*10-4</a:t>
                      </a:r>
                    </a:p>
                  </a:txBody>
                  <a:tcPr>
                    <a:solidFill>
                      <a:srgbClr val="92D050"/>
                    </a:solidFill>
                  </a:tcPr>
                </a:tc>
                <a:tc>
                  <a:txBody>
                    <a:bodyPr/>
                    <a:lstStyle/>
                    <a:p>
                      <a:r>
                        <a:rPr lang="en-IN" dirty="0"/>
                        <a:t>950</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12.545</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0.556</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449.98</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0.062</a:t>
                      </a:r>
                    </a:p>
                  </a:txBody>
                  <a:tcPr>
                    <a:solidFill>
                      <a:srgbClr val="92D050"/>
                    </a:solidFill>
                  </a:tcPr>
                </a:tc>
                <a:extLst>
                  <a:ext uri="{0D108BD9-81ED-4DB2-BD59-A6C34878D82A}">
                    <a16:rowId xmlns:a16="http://schemas.microsoft.com/office/drawing/2014/main" val="765890799"/>
                  </a:ext>
                </a:extLst>
              </a:tr>
              <a:tr h="427440">
                <a:tc>
                  <a:txBody>
                    <a:bodyPr/>
                    <a:lstStyle/>
                    <a:p>
                      <a:r>
                        <a:rPr lang="en-IN" dirty="0"/>
                        <a:t>3</a:t>
                      </a:r>
                    </a:p>
                  </a:txBody>
                  <a:tcP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10</a:t>
                      </a:r>
                      <a:r>
                        <a:rPr lang="en-IN" sz="1800" baseline="30000" dirty="0"/>
                        <a:t>-3</a:t>
                      </a:r>
                      <a:endParaRPr lang="en-IN" dirty="0"/>
                    </a:p>
                  </a:txBody>
                  <a:tcPr>
                    <a:solidFill>
                      <a:srgbClr val="FFFF00"/>
                    </a:solidFill>
                  </a:tcPr>
                </a:tc>
                <a:tc>
                  <a:txBody>
                    <a:bodyPr/>
                    <a:lstStyle/>
                    <a:p>
                      <a:r>
                        <a:rPr lang="en-IN" dirty="0"/>
                        <a:t>650</a:t>
                      </a:r>
                    </a:p>
                  </a:txBody>
                  <a:tcPr>
                    <a:solidFill>
                      <a:srgbClr val="FFFF00"/>
                    </a:solidFill>
                  </a:tcPr>
                </a:tc>
                <a:tc>
                  <a:txBody>
                    <a:bodyPr/>
                    <a:lstStyle/>
                    <a:p>
                      <a:r>
                        <a:rPr lang="en-IN" dirty="0"/>
                        <a:t>43.089</a:t>
                      </a:r>
                    </a:p>
                  </a:txBody>
                  <a:tcPr>
                    <a:solidFill>
                      <a:srgbClr val="FFFF00"/>
                    </a:solidFill>
                  </a:tcPr>
                </a:tc>
                <a:tc>
                  <a:txBody>
                    <a:bodyPr/>
                    <a:lstStyle/>
                    <a:p>
                      <a:r>
                        <a:rPr lang="en-IN" dirty="0"/>
                        <a:t>0.73</a:t>
                      </a:r>
                    </a:p>
                  </a:txBody>
                  <a:tcPr>
                    <a:solidFill>
                      <a:srgbClr val="FFFF00"/>
                    </a:solidFill>
                  </a:tcPr>
                </a:tc>
                <a:tc>
                  <a:txBody>
                    <a:bodyPr/>
                    <a:lstStyle/>
                    <a:p>
                      <a:r>
                        <a:rPr lang="en-IN" dirty="0"/>
                        <a:t>1539.44</a:t>
                      </a:r>
                    </a:p>
                  </a:txBody>
                  <a:tcPr>
                    <a:solidFill>
                      <a:srgbClr val="FFFF00"/>
                    </a:solidFill>
                  </a:tcPr>
                </a:tc>
                <a:tc>
                  <a:txBody>
                    <a:bodyPr/>
                    <a:lstStyle/>
                    <a:p>
                      <a:r>
                        <a:rPr lang="en-IN" dirty="0"/>
                        <a:t>0.0789</a:t>
                      </a:r>
                    </a:p>
                  </a:txBody>
                  <a:tcPr>
                    <a:solidFill>
                      <a:srgbClr val="FFFF00"/>
                    </a:solidFill>
                  </a:tcPr>
                </a:tc>
                <a:extLst>
                  <a:ext uri="{0D108BD9-81ED-4DB2-BD59-A6C34878D82A}">
                    <a16:rowId xmlns:a16="http://schemas.microsoft.com/office/drawing/2014/main" val="3311751818"/>
                  </a:ext>
                </a:extLst>
              </a:tr>
              <a:tr h="427440">
                <a:tc>
                  <a:txBody>
                    <a:bodyPr/>
                    <a:lstStyle/>
                    <a:p>
                      <a:r>
                        <a:rPr lang="en-IN" dirty="0"/>
                        <a:t>4</a:t>
                      </a:r>
                    </a:p>
                  </a:txBody>
                  <a:tcP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10</a:t>
                      </a:r>
                      <a:r>
                        <a:rPr lang="en-IN" sz="1800" baseline="30000" dirty="0"/>
                        <a:t>-3</a:t>
                      </a:r>
                      <a:endParaRPr lang="en-IN" dirty="0"/>
                    </a:p>
                  </a:txBody>
                  <a:tcPr>
                    <a:solidFill>
                      <a:srgbClr val="FFFF00"/>
                    </a:solidFill>
                  </a:tcPr>
                </a:tc>
                <a:tc>
                  <a:txBody>
                    <a:bodyPr/>
                    <a:lstStyle/>
                    <a:p>
                      <a:r>
                        <a:rPr lang="en-IN" dirty="0"/>
                        <a:t>850</a:t>
                      </a:r>
                    </a:p>
                  </a:txBody>
                  <a:tcPr>
                    <a:solidFill>
                      <a:srgbClr val="FFFF00"/>
                    </a:solidFill>
                  </a:tcPr>
                </a:tc>
                <a:tc>
                  <a:txBody>
                    <a:bodyPr/>
                    <a:lstStyle/>
                    <a:p>
                      <a:r>
                        <a:rPr lang="en-IN" dirty="0"/>
                        <a:t>30.38</a:t>
                      </a:r>
                    </a:p>
                  </a:txBody>
                  <a:tcPr>
                    <a:solidFill>
                      <a:srgbClr val="FFFF00"/>
                    </a:solidFill>
                  </a:tcPr>
                </a:tc>
                <a:tc>
                  <a:txBody>
                    <a:bodyPr/>
                    <a:lstStyle/>
                    <a:p>
                      <a:r>
                        <a:rPr lang="en-IN" dirty="0"/>
                        <a:t>0.534</a:t>
                      </a:r>
                    </a:p>
                  </a:txBody>
                  <a:tcPr>
                    <a:solidFill>
                      <a:srgbClr val="FFFF00"/>
                    </a:solidFill>
                  </a:tcPr>
                </a:tc>
                <a:tc>
                  <a:txBody>
                    <a:bodyPr/>
                    <a:lstStyle/>
                    <a:p>
                      <a:r>
                        <a:rPr lang="en-IN" dirty="0"/>
                        <a:t>1039.94</a:t>
                      </a:r>
                    </a:p>
                  </a:txBody>
                  <a:tcPr>
                    <a:solidFill>
                      <a:srgbClr val="FFFF00"/>
                    </a:solidFill>
                  </a:tcPr>
                </a:tc>
                <a:tc>
                  <a:txBody>
                    <a:bodyPr/>
                    <a:lstStyle/>
                    <a:p>
                      <a:r>
                        <a:rPr lang="en-IN" dirty="0"/>
                        <a:t>0.0595</a:t>
                      </a:r>
                    </a:p>
                  </a:txBody>
                  <a:tcPr>
                    <a:solidFill>
                      <a:srgbClr val="FFFF00"/>
                    </a:solidFill>
                  </a:tcPr>
                </a:tc>
                <a:extLst>
                  <a:ext uri="{0D108BD9-81ED-4DB2-BD59-A6C34878D82A}">
                    <a16:rowId xmlns:a16="http://schemas.microsoft.com/office/drawing/2014/main" val="1668569952"/>
                  </a:ext>
                </a:extLst>
              </a:tr>
              <a:tr h="427440">
                <a:tc>
                  <a:txBody>
                    <a:bodyPr/>
                    <a:lstStyle/>
                    <a:p>
                      <a:r>
                        <a:rPr lang="en-IN" dirty="0"/>
                        <a:t>5</a:t>
                      </a:r>
                    </a:p>
                  </a:txBody>
                  <a:tcP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10</a:t>
                      </a:r>
                      <a:r>
                        <a:rPr lang="en-IN" sz="1800" baseline="30000" dirty="0"/>
                        <a:t>-3</a:t>
                      </a:r>
                      <a:endParaRPr lang="en-IN" dirty="0"/>
                    </a:p>
                  </a:txBody>
                  <a:tcPr>
                    <a:solidFill>
                      <a:srgbClr val="FFFF00"/>
                    </a:solidFill>
                  </a:tcPr>
                </a:tc>
                <a:tc>
                  <a:txBody>
                    <a:bodyPr/>
                    <a:lstStyle/>
                    <a:p>
                      <a:r>
                        <a:rPr lang="en-IN" dirty="0"/>
                        <a:t>900</a:t>
                      </a:r>
                    </a:p>
                  </a:txBody>
                  <a:tcPr>
                    <a:solidFill>
                      <a:srgbClr val="FFFF00"/>
                    </a:solidFill>
                  </a:tcPr>
                </a:tc>
                <a:tc>
                  <a:txBody>
                    <a:bodyPr/>
                    <a:lstStyle/>
                    <a:p>
                      <a:r>
                        <a:rPr lang="en-IN" dirty="0"/>
                        <a:t>18.68</a:t>
                      </a:r>
                    </a:p>
                  </a:txBody>
                  <a:tcPr>
                    <a:solidFill>
                      <a:srgbClr val="FFFF00"/>
                    </a:solidFill>
                  </a:tcPr>
                </a:tc>
                <a:tc>
                  <a:txBody>
                    <a:bodyPr/>
                    <a:lstStyle/>
                    <a:p>
                      <a:r>
                        <a:rPr lang="en-IN" dirty="0"/>
                        <a:t>0.462</a:t>
                      </a:r>
                    </a:p>
                  </a:txBody>
                  <a:tcPr>
                    <a:solidFill>
                      <a:srgbClr val="FFFF00"/>
                    </a:solidFill>
                  </a:tcPr>
                </a:tc>
                <a:tc>
                  <a:txBody>
                    <a:bodyPr/>
                    <a:lstStyle/>
                    <a:p>
                      <a:r>
                        <a:rPr lang="en-IN" dirty="0"/>
                        <a:t>639.44</a:t>
                      </a:r>
                    </a:p>
                  </a:txBody>
                  <a:tcPr>
                    <a:solidFill>
                      <a:srgbClr val="FFFF00"/>
                    </a:solidFill>
                  </a:tcPr>
                </a:tc>
                <a:tc>
                  <a:txBody>
                    <a:bodyPr/>
                    <a:lstStyle/>
                    <a:p>
                      <a:r>
                        <a:rPr lang="en-IN" dirty="0"/>
                        <a:t>0.051</a:t>
                      </a:r>
                    </a:p>
                  </a:txBody>
                  <a:tcPr>
                    <a:solidFill>
                      <a:srgbClr val="FFFF00"/>
                    </a:solidFill>
                  </a:tcPr>
                </a:tc>
                <a:extLst>
                  <a:ext uri="{0D108BD9-81ED-4DB2-BD59-A6C34878D82A}">
                    <a16:rowId xmlns:a16="http://schemas.microsoft.com/office/drawing/2014/main" val="3451673338"/>
                  </a:ext>
                </a:extLst>
              </a:tr>
              <a:tr h="427440">
                <a:tc>
                  <a:txBody>
                    <a:bodyPr/>
                    <a:lstStyle/>
                    <a:p>
                      <a:r>
                        <a:rPr lang="en-IN" dirty="0"/>
                        <a:t>6</a:t>
                      </a:r>
                    </a:p>
                  </a:txBody>
                  <a:tcP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10</a:t>
                      </a:r>
                      <a:r>
                        <a:rPr lang="en-IN" sz="1800" baseline="30000" dirty="0"/>
                        <a:t>-3</a:t>
                      </a:r>
                      <a:endParaRPr lang="en-IN" dirty="0"/>
                    </a:p>
                  </a:txBody>
                  <a:tcPr>
                    <a:solidFill>
                      <a:srgbClr val="FFFF00"/>
                    </a:solidFill>
                  </a:tcPr>
                </a:tc>
                <a:tc>
                  <a:txBody>
                    <a:bodyPr/>
                    <a:lstStyle/>
                    <a:p>
                      <a:r>
                        <a:rPr lang="en-IN" dirty="0"/>
                        <a:t>950</a:t>
                      </a:r>
                    </a:p>
                  </a:txBody>
                  <a:tcPr>
                    <a:solidFill>
                      <a:srgbClr val="FFFF00"/>
                    </a:solidFill>
                  </a:tcPr>
                </a:tc>
                <a:tc>
                  <a:txBody>
                    <a:bodyPr/>
                    <a:lstStyle/>
                    <a:p>
                      <a:r>
                        <a:rPr lang="en-IN" dirty="0"/>
                        <a:t>17.447</a:t>
                      </a:r>
                    </a:p>
                  </a:txBody>
                  <a:tcPr>
                    <a:solidFill>
                      <a:srgbClr val="FFFF00"/>
                    </a:solidFill>
                  </a:tcPr>
                </a:tc>
                <a:tc>
                  <a:txBody>
                    <a:bodyPr/>
                    <a:lstStyle/>
                    <a:p>
                      <a:r>
                        <a:rPr lang="en-IN" dirty="0"/>
                        <a:t>0.522</a:t>
                      </a:r>
                    </a:p>
                  </a:txBody>
                  <a:tcPr>
                    <a:solidFill>
                      <a:srgbClr val="FFFF00"/>
                    </a:solidFill>
                  </a:tcPr>
                </a:tc>
                <a:tc>
                  <a:txBody>
                    <a:bodyPr/>
                    <a:lstStyle/>
                    <a:p>
                      <a:r>
                        <a:rPr lang="en-IN" dirty="0"/>
                        <a:t>623.54</a:t>
                      </a:r>
                    </a:p>
                  </a:txBody>
                  <a:tcPr>
                    <a:solidFill>
                      <a:srgbClr val="FFFF00"/>
                    </a:solidFill>
                  </a:tcPr>
                </a:tc>
                <a:tc>
                  <a:txBody>
                    <a:bodyPr/>
                    <a:lstStyle/>
                    <a:p>
                      <a:r>
                        <a:rPr lang="en-IN" dirty="0"/>
                        <a:t>0.058</a:t>
                      </a:r>
                    </a:p>
                  </a:txBody>
                  <a:tcPr>
                    <a:solidFill>
                      <a:srgbClr val="FFFF00"/>
                    </a:solidFill>
                  </a:tcPr>
                </a:tc>
                <a:extLst>
                  <a:ext uri="{0D108BD9-81ED-4DB2-BD59-A6C34878D82A}">
                    <a16:rowId xmlns:a16="http://schemas.microsoft.com/office/drawing/2014/main" val="1506420154"/>
                  </a:ext>
                </a:extLst>
              </a:tr>
              <a:tr h="427440">
                <a:tc>
                  <a:txBody>
                    <a:bodyPr/>
                    <a:lstStyle/>
                    <a:p>
                      <a:r>
                        <a:rPr lang="en-IN" dirty="0"/>
                        <a:t>7</a:t>
                      </a:r>
                    </a:p>
                  </a:txBody>
                  <a:tcP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10</a:t>
                      </a:r>
                      <a:r>
                        <a:rPr lang="en-IN" sz="1800" baseline="30000" dirty="0"/>
                        <a:t>-2</a:t>
                      </a:r>
                      <a:endParaRPr lang="en-IN" dirty="0"/>
                    </a:p>
                  </a:txBody>
                  <a:tcPr>
                    <a:solidFill>
                      <a:schemeClr val="accent2">
                        <a:lumMod val="60000"/>
                        <a:lumOff val="40000"/>
                      </a:schemeClr>
                    </a:solidFill>
                  </a:tcPr>
                </a:tc>
                <a:tc>
                  <a:txBody>
                    <a:bodyPr/>
                    <a:lstStyle/>
                    <a:p>
                      <a:r>
                        <a:rPr lang="en-IN" dirty="0"/>
                        <a:t>900</a:t>
                      </a:r>
                    </a:p>
                  </a:txBody>
                  <a:tcPr>
                    <a:solidFill>
                      <a:schemeClr val="accent2">
                        <a:lumMod val="60000"/>
                        <a:lumOff val="40000"/>
                      </a:schemeClr>
                    </a:solidFill>
                  </a:tcPr>
                </a:tc>
                <a:tc>
                  <a:txBody>
                    <a:bodyPr/>
                    <a:lstStyle/>
                    <a:p>
                      <a:r>
                        <a:rPr lang="en-IN" dirty="0"/>
                        <a:t>31.46</a:t>
                      </a:r>
                    </a:p>
                  </a:txBody>
                  <a:tcPr>
                    <a:solidFill>
                      <a:schemeClr val="accent2">
                        <a:lumMod val="60000"/>
                        <a:lumOff val="40000"/>
                      </a:schemeClr>
                    </a:solidFill>
                  </a:tcPr>
                </a:tc>
                <a:tc>
                  <a:txBody>
                    <a:bodyPr/>
                    <a:lstStyle/>
                    <a:p>
                      <a:r>
                        <a:rPr lang="en-IN" dirty="0"/>
                        <a:t>4.45</a:t>
                      </a:r>
                    </a:p>
                  </a:txBody>
                  <a:tcPr>
                    <a:solidFill>
                      <a:schemeClr val="accent2">
                        <a:lumMod val="60000"/>
                        <a:lumOff val="40000"/>
                      </a:schemeClr>
                    </a:solidFill>
                  </a:tcPr>
                </a:tc>
                <a:tc>
                  <a:txBody>
                    <a:bodyPr/>
                    <a:lstStyle/>
                    <a:p>
                      <a:r>
                        <a:rPr lang="en-IN" dirty="0"/>
                        <a:t>1076.8</a:t>
                      </a:r>
                    </a:p>
                  </a:txBody>
                  <a:tcPr>
                    <a:solidFill>
                      <a:schemeClr val="accent2">
                        <a:lumMod val="60000"/>
                        <a:lumOff val="40000"/>
                      </a:schemeClr>
                    </a:solidFill>
                  </a:tcPr>
                </a:tc>
                <a:tc>
                  <a:txBody>
                    <a:bodyPr/>
                    <a:lstStyle/>
                    <a:p>
                      <a:r>
                        <a:rPr lang="en-IN" dirty="0"/>
                        <a:t>0.497</a:t>
                      </a:r>
                    </a:p>
                  </a:txBody>
                  <a:tcPr>
                    <a:solidFill>
                      <a:schemeClr val="accent2">
                        <a:lumMod val="60000"/>
                        <a:lumOff val="40000"/>
                      </a:schemeClr>
                    </a:solidFill>
                  </a:tcPr>
                </a:tc>
                <a:extLst>
                  <a:ext uri="{0D108BD9-81ED-4DB2-BD59-A6C34878D82A}">
                    <a16:rowId xmlns:a16="http://schemas.microsoft.com/office/drawing/2014/main" val="512116202"/>
                  </a:ext>
                </a:extLst>
              </a:tr>
              <a:tr h="427440">
                <a:tc>
                  <a:txBody>
                    <a:bodyPr/>
                    <a:lstStyle/>
                    <a:p>
                      <a:r>
                        <a:rPr lang="en-IN" dirty="0"/>
                        <a:t>8</a:t>
                      </a:r>
                    </a:p>
                  </a:txBody>
                  <a:tcP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10</a:t>
                      </a:r>
                      <a:r>
                        <a:rPr lang="en-IN" sz="1800" baseline="30000" dirty="0"/>
                        <a:t>-2</a:t>
                      </a:r>
                      <a:endParaRPr lang="en-IN" dirty="0"/>
                    </a:p>
                  </a:txBody>
                  <a:tcPr>
                    <a:solidFill>
                      <a:schemeClr val="accent2">
                        <a:lumMod val="60000"/>
                        <a:lumOff val="40000"/>
                      </a:schemeClr>
                    </a:solidFill>
                  </a:tcPr>
                </a:tc>
                <a:tc>
                  <a:txBody>
                    <a:bodyPr/>
                    <a:lstStyle/>
                    <a:p>
                      <a:r>
                        <a:rPr lang="en-IN" dirty="0"/>
                        <a:t>950</a:t>
                      </a:r>
                    </a:p>
                  </a:txBody>
                  <a:tcPr>
                    <a:solidFill>
                      <a:schemeClr val="accent2">
                        <a:lumMod val="60000"/>
                        <a:lumOff val="40000"/>
                      </a:schemeClr>
                    </a:solidFill>
                  </a:tcPr>
                </a:tc>
                <a:tc>
                  <a:txBody>
                    <a:bodyPr/>
                    <a:lstStyle/>
                    <a:p>
                      <a:r>
                        <a:rPr lang="en-IN" dirty="0"/>
                        <a:t>19.14</a:t>
                      </a:r>
                    </a:p>
                  </a:txBody>
                  <a:tcPr>
                    <a:solidFill>
                      <a:schemeClr val="accent2">
                        <a:lumMod val="60000"/>
                        <a:lumOff val="40000"/>
                      </a:schemeClr>
                    </a:solidFill>
                  </a:tcPr>
                </a:tc>
                <a:tc>
                  <a:txBody>
                    <a:bodyPr/>
                    <a:lstStyle/>
                    <a:p>
                      <a:r>
                        <a:rPr lang="en-IN" dirty="0"/>
                        <a:t>4.474</a:t>
                      </a:r>
                    </a:p>
                  </a:txBody>
                  <a:tcPr>
                    <a:solidFill>
                      <a:schemeClr val="accent2">
                        <a:lumMod val="60000"/>
                        <a:lumOff val="40000"/>
                      </a:schemeClr>
                    </a:solidFill>
                  </a:tcPr>
                </a:tc>
                <a:tc>
                  <a:txBody>
                    <a:bodyPr/>
                    <a:lstStyle/>
                    <a:p>
                      <a:r>
                        <a:rPr lang="en-IN" dirty="0"/>
                        <a:t>655.1</a:t>
                      </a:r>
                    </a:p>
                  </a:txBody>
                  <a:tcPr>
                    <a:solidFill>
                      <a:schemeClr val="accent2">
                        <a:lumMod val="60000"/>
                        <a:lumOff val="40000"/>
                      </a:schemeClr>
                    </a:solidFill>
                  </a:tcPr>
                </a:tc>
                <a:tc>
                  <a:txBody>
                    <a:bodyPr/>
                    <a:lstStyle/>
                    <a:p>
                      <a:r>
                        <a:rPr lang="en-IN" dirty="0"/>
                        <a:t>0.499</a:t>
                      </a:r>
                    </a:p>
                  </a:txBody>
                  <a:tcPr>
                    <a:solidFill>
                      <a:schemeClr val="accent2">
                        <a:lumMod val="60000"/>
                        <a:lumOff val="40000"/>
                      </a:schemeClr>
                    </a:solidFill>
                  </a:tcPr>
                </a:tc>
                <a:extLst>
                  <a:ext uri="{0D108BD9-81ED-4DB2-BD59-A6C34878D82A}">
                    <a16:rowId xmlns:a16="http://schemas.microsoft.com/office/drawing/2014/main" val="1931740779"/>
                  </a:ext>
                </a:extLst>
              </a:tr>
              <a:tr h="427440">
                <a:tc>
                  <a:txBody>
                    <a:bodyPr/>
                    <a:lstStyle/>
                    <a:p>
                      <a:r>
                        <a:rPr lang="en-IN" dirty="0"/>
                        <a:t>9</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10</a:t>
                      </a:r>
                      <a:r>
                        <a:rPr lang="en-IN" sz="1800" baseline="30000" dirty="0"/>
                        <a:t>-1</a:t>
                      </a:r>
                      <a:endParaRPr lang="en-IN" dirty="0"/>
                    </a:p>
                  </a:txBody>
                  <a:tcPr>
                    <a:solidFill>
                      <a:schemeClr val="bg2"/>
                    </a:solidFill>
                  </a:tcPr>
                </a:tc>
                <a:tc>
                  <a:txBody>
                    <a:bodyPr/>
                    <a:lstStyle/>
                    <a:p>
                      <a:r>
                        <a:rPr lang="en-IN" dirty="0"/>
                        <a:t>900</a:t>
                      </a:r>
                    </a:p>
                  </a:txBody>
                  <a:tcPr>
                    <a:solidFill>
                      <a:schemeClr val="bg2"/>
                    </a:solidFill>
                  </a:tcPr>
                </a:tc>
                <a:tc>
                  <a:txBody>
                    <a:bodyPr/>
                    <a:lstStyle/>
                    <a:p>
                      <a:r>
                        <a:rPr lang="en-IN" dirty="0"/>
                        <a:t>25.76</a:t>
                      </a:r>
                    </a:p>
                  </a:txBody>
                  <a:tcPr>
                    <a:solidFill>
                      <a:schemeClr val="bg2"/>
                    </a:solidFill>
                  </a:tcPr>
                </a:tc>
                <a:tc>
                  <a:txBody>
                    <a:bodyPr/>
                    <a:lstStyle/>
                    <a:p>
                      <a:r>
                        <a:rPr lang="en-IN" dirty="0"/>
                        <a:t>4.35</a:t>
                      </a:r>
                    </a:p>
                  </a:txBody>
                  <a:tcPr>
                    <a:solidFill>
                      <a:schemeClr val="bg2"/>
                    </a:solidFill>
                  </a:tcPr>
                </a:tc>
                <a:tc>
                  <a:txBody>
                    <a:bodyPr/>
                    <a:lstStyle/>
                    <a:p>
                      <a:r>
                        <a:rPr lang="en-IN" dirty="0"/>
                        <a:t>881.48</a:t>
                      </a:r>
                    </a:p>
                  </a:txBody>
                  <a:tcPr>
                    <a:solidFill>
                      <a:schemeClr val="bg2"/>
                    </a:solidFill>
                  </a:tcPr>
                </a:tc>
                <a:tc>
                  <a:txBody>
                    <a:bodyPr/>
                    <a:lstStyle/>
                    <a:p>
                      <a:r>
                        <a:rPr lang="en-IN" dirty="0"/>
                        <a:t>0.4856</a:t>
                      </a:r>
                    </a:p>
                  </a:txBody>
                  <a:tcPr>
                    <a:solidFill>
                      <a:schemeClr val="bg2"/>
                    </a:solidFill>
                  </a:tcPr>
                </a:tc>
                <a:extLst>
                  <a:ext uri="{0D108BD9-81ED-4DB2-BD59-A6C34878D82A}">
                    <a16:rowId xmlns:a16="http://schemas.microsoft.com/office/drawing/2014/main" val="4083516434"/>
                  </a:ext>
                </a:extLst>
              </a:tr>
              <a:tr h="463814">
                <a:tc>
                  <a:txBody>
                    <a:bodyPr/>
                    <a:lstStyle/>
                    <a:p>
                      <a:r>
                        <a:rPr lang="en-IN" dirty="0"/>
                        <a:t>10</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10</a:t>
                      </a:r>
                      <a:r>
                        <a:rPr lang="en-IN" sz="1800" baseline="30000" dirty="0"/>
                        <a:t>-1</a:t>
                      </a:r>
                      <a:endParaRPr lang="en-IN" dirty="0"/>
                    </a:p>
                  </a:txBody>
                  <a:tcPr>
                    <a:solidFill>
                      <a:schemeClr val="bg2"/>
                    </a:solidFill>
                  </a:tcPr>
                </a:tc>
                <a:tc>
                  <a:txBody>
                    <a:bodyPr/>
                    <a:lstStyle/>
                    <a:p>
                      <a:r>
                        <a:rPr lang="en-IN" dirty="0"/>
                        <a:t>950</a:t>
                      </a:r>
                    </a:p>
                  </a:txBody>
                  <a:tcPr>
                    <a:solidFill>
                      <a:schemeClr val="bg2"/>
                    </a:solidFill>
                  </a:tcPr>
                </a:tc>
                <a:tc>
                  <a:txBody>
                    <a:bodyPr/>
                    <a:lstStyle/>
                    <a:p>
                      <a:r>
                        <a:rPr lang="en-IN" dirty="0"/>
                        <a:t>20.83</a:t>
                      </a:r>
                    </a:p>
                  </a:txBody>
                  <a:tcPr>
                    <a:solidFill>
                      <a:schemeClr val="bg2"/>
                    </a:solidFill>
                  </a:tcPr>
                </a:tc>
                <a:tc>
                  <a:txBody>
                    <a:bodyPr/>
                    <a:lstStyle/>
                    <a:p>
                      <a:r>
                        <a:rPr lang="en-IN" dirty="0"/>
                        <a:t>4.02</a:t>
                      </a:r>
                    </a:p>
                  </a:txBody>
                  <a:tcPr>
                    <a:solidFill>
                      <a:schemeClr val="bg2"/>
                    </a:solidFill>
                  </a:tcPr>
                </a:tc>
                <a:tc>
                  <a:txBody>
                    <a:bodyPr/>
                    <a:lstStyle/>
                    <a:p>
                      <a:r>
                        <a:rPr lang="en-IN" dirty="0"/>
                        <a:t>712.76</a:t>
                      </a:r>
                    </a:p>
                  </a:txBody>
                  <a:tcPr>
                    <a:solidFill>
                      <a:schemeClr val="bg2"/>
                    </a:solidFill>
                  </a:tcPr>
                </a:tc>
                <a:tc>
                  <a:txBody>
                    <a:bodyPr/>
                    <a:lstStyle/>
                    <a:p>
                      <a:r>
                        <a:rPr lang="en-IN" dirty="0"/>
                        <a:t>0.446</a:t>
                      </a:r>
                    </a:p>
                  </a:txBody>
                  <a:tcPr>
                    <a:solidFill>
                      <a:schemeClr val="bg2"/>
                    </a:solidFill>
                  </a:tcPr>
                </a:tc>
                <a:extLst>
                  <a:ext uri="{0D108BD9-81ED-4DB2-BD59-A6C34878D82A}">
                    <a16:rowId xmlns:a16="http://schemas.microsoft.com/office/drawing/2014/main" val="3346736398"/>
                  </a:ext>
                </a:extLst>
              </a:tr>
            </a:tbl>
          </a:graphicData>
        </a:graphic>
      </p:graphicFrame>
      <p:sp>
        <p:nvSpPr>
          <p:cNvPr id="3" name="TextBox 2">
            <a:extLst>
              <a:ext uri="{FF2B5EF4-FFF2-40B4-BE49-F238E27FC236}">
                <a16:creationId xmlns:a16="http://schemas.microsoft.com/office/drawing/2014/main" id="{7A29F08A-68C4-3F44-32BF-E41B4BB54CF9}"/>
              </a:ext>
            </a:extLst>
          </p:cNvPr>
          <p:cNvSpPr txBox="1"/>
          <p:nvPr/>
        </p:nvSpPr>
        <p:spPr>
          <a:xfrm>
            <a:off x="133311" y="80514"/>
            <a:ext cx="11208589"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Comparison of Mechanical Behaviour at Different Strain Rates and Different Temperatures :</a:t>
            </a:r>
          </a:p>
        </p:txBody>
      </p:sp>
    </p:spTree>
    <p:extLst>
      <p:ext uri="{BB962C8B-B14F-4D97-AF65-F5344CB8AC3E}">
        <p14:creationId xmlns:p14="http://schemas.microsoft.com/office/powerpoint/2010/main" val="1317212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421B5D-3A39-395F-2A21-D572E9A24C47}"/>
              </a:ext>
            </a:extLst>
          </p:cNvPr>
          <p:cNvPicPr>
            <a:picLocks noChangeAspect="1"/>
          </p:cNvPicPr>
          <p:nvPr/>
        </p:nvPicPr>
        <p:blipFill>
          <a:blip r:embed="rId2"/>
          <a:stretch>
            <a:fillRect/>
          </a:stretch>
        </p:blipFill>
        <p:spPr>
          <a:xfrm>
            <a:off x="1615941" y="1362974"/>
            <a:ext cx="8960117" cy="5313871"/>
          </a:xfrm>
          <a:prstGeom prst="rect">
            <a:avLst/>
          </a:prstGeom>
          <a:solidFill>
            <a:srgbClr val="FFFF00"/>
          </a:solidFill>
        </p:spPr>
      </p:pic>
      <p:sp>
        <p:nvSpPr>
          <p:cNvPr id="4" name="TextBox 3">
            <a:extLst>
              <a:ext uri="{FF2B5EF4-FFF2-40B4-BE49-F238E27FC236}">
                <a16:creationId xmlns:a16="http://schemas.microsoft.com/office/drawing/2014/main" id="{FA630D9C-7AA8-01D2-5177-56EFC0892F54}"/>
              </a:ext>
            </a:extLst>
          </p:cNvPr>
          <p:cNvSpPr txBox="1"/>
          <p:nvPr/>
        </p:nvSpPr>
        <p:spPr>
          <a:xfrm>
            <a:off x="504933" y="261130"/>
            <a:ext cx="11040651" cy="954107"/>
          </a:xfrm>
          <a:prstGeom prst="rect">
            <a:avLst/>
          </a:prstGeom>
          <a:noFill/>
        </p:spPr>
        <p:txBody>
          <a:bodyPr wrap="none" rtlCol="0">
            <a:spAutoFit/>
          </a:bodyPr>
          <a:lstStyle/>
          <a:p>
            <a:r>
              <a:rPr lang="en-IN" sz="2800" b="1" dirty="0"/>
              <a:t>Effect of Mechanical Behaviour on changing Temperatures at Fixed </a:t>
            </a:r>
          </a:p>
          <a:p>
            <a:r>
              <a:rPr lang="en-IN" sz="2800" b="1" dirty="0"/>
              <a:t>Strain Rate 10</a:t>
            </a:r>
            <a:r>
              <a:rPr lang="en-IN" sz="2800" b="1" baseline="30000" dirty="0"/>
              <a:t>-3</a:t>
            </a:r>
          </a:p>
        </p:txBody>
      </p:sp>
      <p:sp>
        <p:nvSpPr>
          <p:cNvPr id="5" name="TextBox 4">
            <a:extLst>
              <a:ext uri="{FF2B5EF4-FFF2-40B4-BE49-F238E27FC236}">
                <a16:creationId xmlns:a16="http://schemas.microsoft.com/office/drawing/2014/main" id="{9185AFE6-008B-4AFB-E954-B10C1149008A}"/>
              </a:ext>
            </a:extLst>
          </p:cNvPr>
          <p:cNvSpPr txBox="1"/>
          <p:nvPr/>
        </p:nvSpPr>
        <p:spPr>
          <a:xfrm>
            <a:off x="504933" y="261129"/>
            <a:ext cx="11040651" cy="954107"/>
          </a:xfrm>
          <a:prstGeom prst="rect">
            <a:avLst/>
          </a:prstGeom>
          <a:noFill/>
        </p:spPr>
        <p:txBody>
          <a:bodyPr wrap="none" rtlCol="0">
            <a:spAutoFit/>
          </a:bodyPr>
          <a:lstStyle/>
          <a:p>
            <a:r>
              <a:rPr lang="en-IN" sz="2800" b="1" dirty="0"/>
              <a:t>Effect of Mechanical Behaviour on changing Temperatures at Fixed </a:t>
            </a:r>
          </a:p>
          <a:p>
            <a:r>
              <a:rPr lang="en-IN" sz="2800" b="1" dirty="0"/>
              <a:t>Strain Rate 10</a:t>
            </a:r>
            <a:r>
              <a:rPr lang="en-IN" sz="2800" b="1" baseline="30000" dirty="0"/>
              <a:t>-3</a:t>
            </a:r>
          </a:p>
        </p:txBody>
      </p:sp>
    </p:spTree>
    <p:extLst>
      <p:ext uri="{BB962C8B-B14F-4D97-AF65-F5344CB8AC3E}">
        <p14:creationId xmlns:p14="http://schemas.microsoft.com/office/powerpoint/2010/main" val="3264909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E6BE57-52B9-7FC0-ACD7-C82C2DDBE1E2}"/>
              </a:ext>
            </a:extLst>
          </p:cNvPr>
          <p:cNvPicPr>
            <a:picLocks noChangeAspect="1"/>
          </p:cNvPicPr>
          <p:nvPr/>
        </p:nvPicPr>
        <p:blipFill>
          <a:blip r:embed="rId2"/>
          <a:stretch>
            <a:fillRect/>
          </a:stretch>
        </p:blipFill>
        <p:spPr>
          <a:xfrm>
            <a:off x="367987" y="1201946"/>
            <a:ext cx="5646772" cy="4321993"/>
          </a:xfrm>
          <a:prstGeom prst="rect">
            <a:avLst/>
          </a:prstGeom>
        </p:spPr>
      </p:pic>
      <p:pic>
        <p:nvPicPr>
          <p:cNvPr id="5" name="Picture 4">
            <a:extLst>
              <a:ext uri="{FF2B5EF4-FFF2-40B4-BE49-F238E27FC236}">
                <a16:creationId xmlns:a16="http://schemas.microsoft.com/office/drawing/2014/main" id="{06862AEC-DF8D-774D-1D15-921A3E2F302C}"/>
              </a:ext>
            </a:extLst>
          </p:cNvPr>
          <p:cNvPicPr>
            <a:picLocks noChangeAspect="1"/>
          </p:cNvPicPr>
          <p:nvPr/>
        </p:nvPicPr>
        <p:blipFill>
          <a:blip r:embed="rId3"/>
          <a:stretch>
            <a:fillRect/>
          </a:stretch>
        </p:blipFill>
        <p:spPr>
          <a:xfrm>
            <a:off x="5658856" y="1078141"/>
            <a:ext cx="5808526" cy="4445798"/>
          </a:xfrm>
          <a:prstGeom prst="rect">
            <a:avLst/>
          </a:prstGeom>
        </p:spPr>
      </p:pic>
    </p:spTree>
    <p:extLst>
      <p:ext uri="{BB962C8B-B14F-4D97-AF65-F5344CB8AC3E}">
        <p14:creationId xmlns:p14="http://schemas.microsoft.com/office/powerpoint/2010/main" val="1705896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1A3AA-216C-DAF6-EC15-56FB64677009}"/>
              </a:ext>
            </a:extLst>
          </p:cNvPr>
          <p:cNvSpPr>
            <a:spLocks noGrp="1"/>
          </p:cNvSpPr>
          <p:nvPr>
            <p:ph type="title"/>
          </p:nvPr>
        </p:nvSpPr>
        <p:spPr>
          <a:xfrm>
            <a:off x="838200" y="365125"/>
            <a:ext cx="10515600" cy="635539"/>
          </a:xfrm>
        </p:spPr>
        <p:txBody>
          <a:bodyPr>
            <a:normAutofit/>
          </a:bodyPr>
          <a:lstStyle/>
          <a:p>
            <a:r>
              <a:rPr lang="en-IN" sz="2800" dirty="0">
                <a:latin typeface="Times New Roman" panose="02020603050405020304" pitchFamily="18" charset="0"/>
                <a:cs typeface="Times New Roman" panose="02020603050405020304" pitchFamily="18" charset="0"/>
              </a:rPr>
              <a:t>Observations from The Graph at fix strain rate and varying temperature:</a:t>
            </a:r>
          </a:p>
        </p:txBody>
      </p:sp>
      <p:sp>
        <p:nvSpPr>
          <p:cNvPr id="3" name="Content Placeholder 2">
            <a:extLst>
              <a:ext uri="{FF2B5EF4-FFF2-40B4-BE49-F238E27FC236}">
                <a16:creationId xmlns:a16="http://schemas.microsoft.com/office/drawing/2014/main" id="{711A2F0D-E696-654E-AF2E-81D7264C180A}"/>
              </a:ext>
            </a:extLst>
          </p:cNvPr>
          <p:cNvSpPr>
            <a:spLocks noGrp="1"/>
          </p:cNvSpPr>
          <p:nvPr>
            <p:ph idx="1"/>
          </p:nvPr>
        </p:nvSpPr>
        <p:spPr>
          <a:xfrm>
            <a:off x="838200" y="1127185"/>
            <a:ext cx="10515600" cy="5049778"/>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From the above graph we can clearly observe that as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At lower temperature : Stress is high</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At higher temperature: Stress is Lower</a:t>
            </a:r>
          </a:p>
          <a:p>
            <a:pPr marL="0" indent="0">
              <a:buNone/>
            </a:pPr>
            <a:r>
              <a:rPr lang="en-IN" sz="2000" dirty="0">
                <a:latin typeface="Times New Roman" panose="02020603050405020304" pitchFamily="18" charset="0"/>
                <a:cs typeface="Times New Roman" panose="02020603050405020304" pitchFamily="18" charset="0"/>
              </a:rPr>
              <a:t>So from the graph we clearly observe that as Temperature is  increasing Flow Stress is decreasing.</a:t>
            </a:r>
          </a:p>
          <a:p>
            <a:pPr marL="0" indent="0">
              <a:buNone/>
            </a:pPr>
            <a:r>
              <a:rPr lang="en-IN" sz="2000" dirty="0">
                <a:latin typeface="Times New Roman" panose="02020603050405020304" pitchFamily="18" charset="0"/>
                <a:cs typeface="Times New Roman" panose="02020603050405020304" pitchFamily="18" charset="0"/>
              </a:rPr>
              <a:t>   </a:t>
            </a:r>
          </a:p>
          <a:p>
            <a:pPr marL="0" indent="0">
              <a:buNone/>
            </a:pPr>
            <a:r>
              <a:rPr lang="en-IN" sz="2000" b="1" dirty="0">
                <a:latin typeface="Times New Roman" panose="02020603050405020304" pitchFamily="18" charset="0"/>
                <a:cs typeface="Times New Roman" panose="02020603050405020304" pitchFamily="18" charset="0"/>
              </a:rPr>
              <a:t>Why does temperature decreases the Flow stress ?</a:t>
            </a:r>
          </a:p>
          <a:p>
            <a:pPr marL="0" indent="0">
              <a:buNone/>
            </a:pPr>
            <a:r>
              <a:rPr lang="en-IN" sz="2000" dirty="0">
                <a:latin typeface="Times New Roman" panose="02020603050405020304" pitchFamily="18" charset="0"/>
                <a:cs typeface="Times New Roman" panose="02020603050405020304" pitchFamily="18" charset="0"/>
              </a:rPr>
              <a:t>At high temperature atoms have higher thermal energy therefore process such as dislocation motion , dislocation climb , dynamic recrystallization , grain-boundary process can occur more easily . Therefore the materials offers less resistance to deformation so as </a:t>
            </a:r>
          </a:p>
          <a:p>
            <a:pPr marL="0" indent="0">
              <a:buNone/>
            </a:pPr>
            <a:r>
              <a:rPr lang="en-IN" sz="32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Temperature</a:t>
            </a:r>
            <a:r>
              <a:rPr lang="en-IN" sz="32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Stress ↓	</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566407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3107FD-60CF-87C7-896A-99E6C8206CE3}"/>
              </a:ext>
            </a:extLst>
          </p:cNvPr>
          <p:cNvPicPr>
            <a:picLocks noChangeAspect="1"/>
          </p:cNvPicPr>
          <p:nvPr/>
        </p:nvPicPr>
        <p:blipFill>
          <a:blip r:embed="rId2"/>
          <a:stretch>
            <a:fillRect/>
          </a:stretch>
        </p:blipFill>
        <p:spPr>
          <a:xfrm>
            <a:off x="1940869" y="1305463"/>
            <a:ext cx="7298021" cy="5181601"/>
          </a:xfrm>
          <a:prstGeom prst="rect">
            <a:avLst/>
          </a:prstGeom>
        </p:spPr>
      </p:pic>
      <p:sp>
        <p:nvSpPr>
          <p:cNvPr id="4" name="TextBox 3">
            <a:extLst>
              <a:ext uri="{FF2B5EF4-FFF2-40B4-BE49-F238E27FC236}">
                <a16:creationId xmlns:a16="http://schemas.microsoft.com/office/drawing/2014/main" id="{DF192482-E74A-6D83-9BAB-DF551AC004B7}"/>
              </a:ext>
            </a:extLst>
          </p:cNvPr>
          <p:cNvSpPr txBox="1"/>
          <p:nvPr/>
        </p:nvSpPr>
        <p:spPr>
          <a:xfrm>
            <a:off x="684288" y="186906"/>
            <a:ext cx="9811184" cy="83099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Effect of Mechanical Behaviour on changing Strain Rate at Fixed Temperature (900°C)</a:t>
            </a:r>
          </a:p>
        </p:txBody>
      </p:sp>
    </p:spTree>
    <p:extLst>
      <p:ext uri="{BB962C8B-B14F-4D97-AF65-F5344CB8AC3E}">
        <p14:creationId xmlns:p14="http://schemas.microsoft.com/office/powerpoint/2010/main" val="2216652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AF45BD-2B44-FD48-2FFB-8DC639027D04}"/>
              </a:ext>
            </a:extLst>
          </p:cNvPr>
          <p:cNvPicPr>
            <a:picLocks noChangeAspect="1"/>
          </p:cNvPicPr>
          <p:nvPr/>
        </p:nvPicPr>
        <p:blipFill>
          <a:blip r:embed="rId2"/>
          <a:stretch>
            <a:fillRect/>
          </a:stretch>
        </p:blipFill>
        <p:spPr>
          <a:xfrm>
            <a:off x="247217" y="1408981"/>
            <a:ext cx="5635294" cy="4313208"/>
          </a:xfrm>
          <a:prstGeom prst="rect">
            <a:avLst/>
          </a:prstGeom>
        </p:spPr>
      </p:pic>
      <p:pic>
        <p:nvPicPr>
          <p:cNvPr id="5" name="Picture 4">
            <a:extLst>
              <a:ext uri="{FF2B5EF4-FFF2-40B4-BE49-F238E27FC236}">
                <a16:creationId xmlns:a16="http://schemas.microsoft.com/office/drawing/2014/main" id="{EF3691B7-BA7E-22FA-17E7-8C9E6B3E73F2}"/>
              </a:ext>
            </a:extLst>
          </p:cNvPr>
          <p:cNvPicPr>
            <a:picLocks noChangeAspect="1"/>
          </p:cNvPicPr>
          <p:nvPr/>
        </p:nvPicPr>
        <p:blipFill>
          <a:blip r:embed="rId3"/>
          <a:stretch>
            <a:fillRect/>
          </a:stretch>
        </p:blipFill>
        <p:spPr>
          <a:xfrm>
            <a:off x="5589844" y="1272396"/>
            <a:ext cx="5635294" cy="4313208"/>
          </a:xfrm>
          <a:prstGeom prst="rect">
            <a:avLst/>
          </a:prstGeom>
        </p:spPr>
      </p:pic>
    </p:spTree>
    <p:extLst>
      <p:ext uri="{BB962C8B-B14F-4D97-AF65-F5344CB8AC3E}">
        <p14:creationId xmlns:p14="http://schemas.microsoft.com/office/powerpoint/2010/main" val="932087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26AAE0B-E563-78EE-4E44-077AA1910EBE}"/>
              </a:ext>
            </a:extLst>
          </p:cNvPr>
          <p:cNvPicPr>
            <a:picLocks noChangeAspect="1"/>
          </p:cNvPicPr>
          <p:nvPr/>
        </p:nvPicPr>
        <p:blipFill>
          <a:blip r:embed="rId2"/>
          <a:stretch>
            <a:fillRect/>
          </a:stretch>
        </p:blipFill>
        <p:spPr>
          <a:xfrm>
            <a:off x="97656" y="1688841"/>
            <a:ext cx="5834838" cy="4280161"/>
          </a:xfrm>
          <a:prstGeom prst="rect">
            <a:avLst/>
          </a:prstGeom>
        </p:spPr>
      </p:pic>
      <p:sp>
        <p:nvSpPr>
          <p:cNvPr id="22" name="TextBox 21">
            <a:extLst>
              <a:ext uri="{FF2B5EF4-FFF2-40B4-BE49-F238E27FC236}">
                <a16:creationId xmlns:a16="http://schemas.microsoft.com/office/drawing/2014/main" id="{DE91C603-ACD6-5AF4-43C8-FD5973C50231}"/>
              </a:ext>
            </a:extLst>
          </p:cNvPr>
          <p:cNvSpPr txBox="1"/>
          <p:nvPr/>
        </p:nvSpPr>
        <p:spPr>
          <a:xfrm>
            <a:off x="5066581" y="552091"/>
            <a:ext cx="184731" cy="369332"/>
          </a:xfrm>
          <a:prstGeom prst="rect">
            <a:avLst/>
          </a:prstGeom>
          <a:noFill/>
        </p:spPr>
        <p:txBody>
          <a:bodyPr wrap="none" rtlCol="0">
            <a:spAutoFit/>
          </a:bodyPr>
          <a:lstStyle/>
          <a:p>
            <a:pPr algn="ctr"/>
            <a:endParaRPr lang="en-IN" dirty="0"/>
          </a:p>
        </p:txBody>
      </p:sp>
      <p:sp>
        <p:nvSpPr>
          <p:cNvPr id="3" name="TextBox 2">
            <a:extLst>
              <a:ext uri="{FF2B5EF4-FFF2-40B4-BE49-F238E27FC236}">
                <a16:creationId xmlns:a16="http://schemas.microsoft.com/office/drawing/2014/main" id="{CF843F19-A3AB-A367-61E3-AC951DCD300C}"/>
              </a:ext>
            </a:extLst>
          </p:cNvPr>
          <p:cNvSpPr txBox="1"/>
          <p:nvPr/>
        </p:nvSpPr>
        <p:spPr>
          <a:xfrm>
            <a:off x="378577" y="256452"/>
            <a:ext cx="11620361" cy="738664"/>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Effect of Mechanical Behaviour on changing Strain Rate at Fixed Temperature (950°C)</a:t>
            </a:r>
          </a:p>
          <a:p>
            <a:endParaRPr lang="en-IN" dirty="0"/>
          </a:p>
        </p:txBody>
      </p:sp>
      <p:pic>
        <p:nvPicPr>
          <p:cNvPr id="4" name="Picture 3">
            <a:extLst>
              <a:ext uri="{FF2B5EF4-FFF2-40B4-BE49-F238E27FC236}">
                <a16:creationId xmlns:a16="http://schemas.microsoft.com/office/drawing/2014/main" id="{1C418467-2D5A-74AF-732C-39E98F0A0E23}"/>
              </a:ext>
            </a:extLst>
          </p:cNvPr>
          <p:cNvPicPr>
            <a:picLocks noChangeAspect="1"/>
          </p:cNvPicPr>
          <p:nvPr/>
        </p:nvPicPr>
        <p:blipFill>
          <a:blip r:embed="rId3"/>
          <a:stretch>
            <a:fillRect/>
          </a:stretch>
        </p:blipFill>
        <p:spPr>
          <a:xfrm>
            <a:off x="6096000" y="1503065"/>
            <a:ext cx="5834839" cy="4465937"/>
          </a:xfrm>
          <a:prstGeom prst="rect">
            <a:avLst/>
          </a:prstGeom>
        </p:spPr>
      </p:pic>
    </p:spTree>
    <p:extLst>
      <p:ext uri="{BB962C8B-B14F-4D97-AF65-F5344CB8AC3E}">
        <p14:creationId xmlns:p14="http://schemas.microsoft.com/office/powerpoint/2010/main" val="333598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69156-79B6-9F57-0C49-C5515777AB14}"/>
              </a:ext>
            </a:extLst>
          </p:cNvPr>
          <p:cNvSpPr>
            <a:spLocks noGrp="1"/>
          </p:cNvSpPr>
          <p:nvPr>
            <p:ph type="title"/>
          </p:nvPr>
        </p:nvSpPr>
        <p:spPr>
          <a:xfrm>
            <a:off x="838200" y="238605"/>
            <a:ext cx="10515600" cy="698800"/>
          </a:xfrm>
        </p:spPr>
        <p:txBody>
          <a:bodyPr>
            <a:normAutofit/>
          </a:bodyPr>
          <a:lstStyle/>
          <a:p>
            <a:r>
              <a:rPr lang="en-IN" sz="2400" b="1" dirty="0">
                <a:latin typeface="Times New Roman" panose="02020603050405020304" pitchFamily="18" charset="0"/>
                <a:cs typeface="Times New Roman" panose="02020603050405020304" pitchFamily="18" charset="0"/>
              </a:rPr>
              <a:t>Observations from The Graph at fix temperature and varying strain rate :</a:t>
            </a:r>
          </a:p>
        </p:txBody>
      </p:sp>
      <p:sp>
        <p:nvSpPr>
          <p:cNvPr id="3" name="Content Placeholder 2">
            <a:extLst>
              <a:ext uri="{FF2B5EF4-FFF2-40B4-BE49-F238E27FC236}">
                <a16:creationId xmlns:a16="http://schemas.microsoft.com/office/drawing/2014/main" id="{BDC5DEB8-69B9-D0F9-AFB9-580590400E6D}"/>
              </a:ext>
            </a:extLst>
          </p:cNvPr>
          <p:cNvSpPr>
            <a:spLocks noGrp="1"/>
          </p:cNvSpPr>
          <p:nvPr>
            <p:ph idx="1"/>
          </p:nvPr>
        </p:nvSpPr>
        <p:spPr>
          <a:xfrm>
            <a:off x="838200" y="1500996"/>
            <a:ext cx="10515600" cy="4675967"/>
          </a:xfrm>
        </p:spPr>
        <p:txBody>
          <a:bodyPr/>
          <a:lstStyle/>
          <a:p>
            <a:pPr marL="0" indent="0">
              <a:buNone/>
            </a:pPr>
            <a:r>
              <a:rPr lang="en-IN" sz="2000" dirty="0">
                <a:latin typeface="Times New Roman" panose="02020603050405020304" pitchFamily="18" charset="0"/>
                <a:cs typeface="Times New Roman" panose="02020603050405020304" pitchFamily="18" charset="0"/>
              </a:rPr>
              <a:t>From the above graph we can clearly observe that as </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At lower Strain Rate : Stress is lower</a:t>
            </a:r>
          </a:p>
          <a:p>
            <a:pPr marL="514350" indent="-514350">
              <a:buFont typeface="+mj-lt"/>
              <a:buAutoNum type="arabicPeriod"/>
            </a:pPr>
            <a:r>
              <a:rPr lang="en-IN" sz="2000" dirty="0">
                <a:latin typeface="Times New Roman" panose="02020603050405020304" pitchFamily="18" charset="0"/>
                <a:cs typeface="Times New Roman" panose="02020603050405020304" pitchFamily="18" charset="0"/>
              </a:rPr>
              <a:t>At higher Strain Rate : Stress is higher</a:t>
            </a:r>
          </a:p>
          <a:p>
            <a:pPr marL="0" indent="0">
              <a:buNone/>
            </a:pPr>
            <a:r>
              <a:rPr lang="en-IN" sz="2000" dirty="0">
                <a:latin typeface="Times New Roman" panose="02020603050405020304" pitchFamily="18" charset="0"/>
                <a:cs typeface="Times New Roman" panose="02020603050405020304" pitchFamily="18" charset="0"/>
              </a:rPr>
              <a:t>So from the graph we clearly observe that as Strain Rate is  increasing Flow Stress is also increasing.</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Why does Strain Rate increases the Flow stress ?</a:t>
            </a:r>
          </a:p>
          <a:p>
            <a:pPr marL="0" indent="0">
              <a:buNone/>
            </a:pPr>
            <a:r>
              <a:rPr lang="en-IN" sz="2000" dirty="0">
                <a:latin typeface="Times New Roman" panose="02020603050405020304" pitchFamily="18" charset="0"/>
                <a:cs typeface="Times New Roman" panose="02020603050405020304" pitchFamily="18" charset="0"/>
              </a:rPr>
              <a:t>At higher strain Rate the material has less time for recovery , diffusion , dislocation rearrangement and dynamic recrystallization therefore more resistance to deformation is occur so as</a:t>
            </a:r>
          </a:p>
          <a:p>
            <a:pPr marL="0" indent="0">
              <a:buNone/>
            </a:pPr>
            <a:r>
              <a:rPr lang="en-IN" sz="2000"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Strain Rate↑ ⟹ Flow Stress↑ 	</a:t>
            </a: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9439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1350</Words>
  <Application>Microsoft Office PowerPoint</Application>
  <PresentationFormat>Widescreen</PresentationFormat>
  <Paragraphs>209</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Arial</vt:lpstr>
      <vt:lpstr>Cambria Math</vt:lpstr>
      <vt:lpstr>Times New Roman</vt:lpstr>
      <vt:lpstr>Office Theme</vt:lpstr>
      <vt:lpstr>Thermo-Mechanical Response of  Cr20Fe20Nb30Ti30  Medium Entropy Alloy (MEA)</vt:lpstr>
      <vt:lpstr>Introduction:</vt:lpstr>
      <vt:lpstr>PowerPoint Presentation</vt:lpstr>
      <vt:lpstr>PowerPoint Presentation</vt:lpstr>
      <vt:lpstr> Research Objective:</vt:lpstr>
      <vt:lpstr>Applications: The Cr₂₀Fe₂₀Nb₃₀Ti₃₀ alloy can be investigated for potential applications where high-temperature mechanical stability and resistance to deformation are important such as: </vt:lpstr>
      <vt:lpstr>The test which I have performed till now </vt:lpstr>
      <vt:lpstr>Experimental Works   (1) As Cast Sample preparation </vt:lpstr>
      <vt:lpstr>PowerPoint Presentation</vt:lpstr>
      <vt:lpstr>  (2) Hot-Compression Testing Experimental Procedure: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Observations from The Graph at fix strain rate and varying temperature:</vt:lpstr>
      <vt:lpstr>PowerPoint Presentation</vt:lpstr>
      <vt:lpstr>PowerPoint Presentation</vt:lpstr>
      <vt:lpstr>PowerPoint Presentation</vt:lpstr>
      <vt:lpstr>Observations from The Graph at fix temperature and varying strain rate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kumar yadav</dc:creator>
  <cp:lastModifiedBy>gaurav kumar yadav</cp:lastModifiedBy>
  <cp:revision>1</cp:revision>
  <dcterms:created xsi:type="dcterms:W3CDTF">2026-10-08T18:32:10Z</dcterms:created>
  <dcterms:modified xsi:type="dcterms:W3CDTF">2026-10-08T18:34:25Z</dcterms:modified>
</cp:coreProperties>
</file>